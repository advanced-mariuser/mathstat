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  <p:sldMasterId id="2147483888" r:id="rId2"/>
    <p:sldMasterId id="2147483924" r:id="rId3"/>
    <p:sldMasterId id="2147483936" r:id="rId4"/>
  </p:sldMasterIdLst>
  <p:notesMasterIdLst>
    <p:notesMasterId r:id="rId45"/>
  </p:notesMasterIdLst>
  <p:sldIdLst>
    <p:sldId id="648" r:id="rId5"/>
    <p:sldId id="705" r:id="rId6"/>
    <p:sldId id="706" r:id="rId7"/>
    <p:sldId id="924" r:id="rId8"/>
    <p:sldId id="923" r:id="rId9"/>
    <p:sldId id="703" r:id="rId10"/>
    <p:sldId id="359" r:id="rId11"/>
    <p:sldId id="925" r:id="rId12"/>
    <p:sldId id="928" r:id="rId13"/>
    <p:sldId id="926" r:id="rId14"/>
    <p:sldId id="948" r:id="rId15"/>
    <p:sldId id="929" r:id="rId16"/>
    <p:sldId id="930" r:id="rId17"/>
    <p:sldId id="837" r:id="rId18"/>
    <p:sldId id="853" r:id="rId19"/>
    <p:sldId id="852" r:id="rId20"/>
    <p:sldId id="918" r:id="rId21"/>
    <p:sldId id="919" r:id="rId22"/>
    <p:sldId id="920" r:id="rId23"/>
    <p:sldId id="921" r:id="rId24"/>
    <p:sldId id="945" r:id="rId25"/>
    <p:sldId id="922" r:id="rId26"/>
    <p:sldId id="917" r:id="rId27"/>
    <p:sldId id="932" r:id="rId28"/>
    <p:sldId id="933" r:id="rId29"/>
    <p:sldId id="934" r:id="rId30"/>
    <p:sldId id="935" r:id="rId31"/>
    <p:sldId id="936" r:id="rId32"/>
    <p:sldId id="931" r:id="rId33"/>
    <p:sldId id="937" r:id="rId34"/>
    <p:sldId id="946" r:id="rId35"/>
    <p:sldId id="947" r:id="rId36"/>
    <p:sldId id="938" r:id="rId37"/>
    <p:sldId id="940" r:id="rId38"/>
    <p:sldId id="939" r:id="rId39"/>
    <p:sldId id="941" r:id="rId40"/>
    <p:sldId id="942" r:id="rId41"/>
    <p:sldId id="943" r:id="rId42"/>
    <p:sldId id="944" r:id="rId43"/>
    <p:sldId id="708" r:id="rId44"/>
  </p:sldIdLst>
  <p:sldSz cx="12192000" cy="6858000"/>
  <p:notesSz cx="6858000" cy="9144000"/>
  <p:custDataLst>
    <p:tags r:id="rId46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9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pos="5201" userDrawn="1">
          <p15:clr>
            <a:srgbClr val="A4A3A4"/>
          </p15:clr>
        </p15:guide>
        <p15:guide id="4" orient="horz" pos="2886" userDrawn="1">
          <p15:clr>
            <a:srgbClr val="A4A3A4"/>
          </p15:clr>
        </p15:guide>
        <p15:guide id="5" pos="619" userDrawn="1">
          <p15:clr>
            <a:srgbClr val="A4A3A4"/>
          </p15:clr>
        </p15:guide>
        <p15:guide id="6" orient="horz" pos="618" userDrawn="1">
          <p15:clr>
            <a:srgbClr val="A4A3A4"/>
          </p15:clr>
        </p15:guide>
        <p15:guide id="7" orient="horz" pos="3702" userDrawn="1">
          <p15:clr>
            <a:srgbClr val="A4A3A4"/>
          </p15:clr>
        </p15:guide>
        <p15:guide id="8" pos="7061" userDrawn="1">
          <p15:clr>
            <a:srgbClr val="A4A3A4"/>
          </p15:clr>
        </p15:guide>
        <p15:guide id="9" orient="horz" pos="125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er" initials="A" lastIdx="1" clrIdx="0">
    <p:extLst>
      <p:ext uri="{19B8F6BF-5375-455C-9EA6-DF929625EA0E}">
        <p15:presenceInfo xmlns:p15="http://schemas.microsoft.com/office/powerpoint/2012/main" userId="Alexa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6AF3"/>
    <a:srgbClr val="F36324"/>
    <a:srgbClr val="E6E6E6"/>
    <a:srgbClr val="2469F0"/>
    <a:srgbClr val="4C6FB3"/>
    <a:srgbClr val="7270F5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8" autoAdjust="0"/>
    <p:restoredTop sz="83245" autoAdjust="0"/>
  </p:normalViewPr>
  <p:slideViewPr>
    <p:cSldViewPr>
      <p:cViewPr varScale="1">
        <p:scale>
          <a:sx n="53" d="100"/>
          <a:sy n="53" d="100"/>
        </p:scale>
        <p:origin x="996" y="44"/>
      </p:cViewPr>
      <p:guideLst>
        <p:guide orient="horz" pos="1389"/>
        <p:guide pos="2479"/>
        <p:guide pos="5201"/>
        <p:guide orient="horz" pos="2886"/>
        <p:guide pos="619"/>
        <p:guide orient="horz" pos="618"/>
        <p:guide orient="horz" pos="3702"/>
        <p:guide pos="7061"/>
        <p:guide orient="horz" pos="125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gs" Target="tags/tag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E29CD-DFFE-4B5B-8905-980ED44A5828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A5B5A-6157-4C6B-81CD-B2369B36DEB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83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753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534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201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7957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721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991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Это краткое описание простой модели линейной регрессии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194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64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961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634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496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8933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739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1435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338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2456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1520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849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3636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1274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8244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2833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3288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4893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697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3403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7552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276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9222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5051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2691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1789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8340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6890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43450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039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83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38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239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704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56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6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34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82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831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09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931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865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205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180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882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59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46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1591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368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24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032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1106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329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0913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9839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415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5533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115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034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1979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4010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8141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0196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7837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4435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9948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0080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15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978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9204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0999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060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1642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65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85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68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51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28.03.2024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30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3BAA14-9C0F-4D1F-9B17-483C8E7EA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FEE38D-D8FA-444B-97D1-1178CA8AA50A}"/>
              </a:ext>
            </a:extLst>
          </p:cNvPr>
          <p:cNvSpPr/>
          <p:nvPr/>
        </p:nvSpPr>
        <p:spPr>
          <a:xfrm>
            <a:off x="-19672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6FE7900-16B0-4943-81C0-E2A7A9CD937E}"/>
              </a:ext>
            </a:extLst>
          </p:cNvPr>
          <p:cNvSpPr txBox="1">
            <a:spLocks/>
          </p:cNvSpPr>
          <p:nvPr/>
        </p:nvSpPr>
        <p:spPr>
          <a:xfrm>
            <a:off x="983432" y="1429889"/>
            <a:ext cx="8424936" cy="149505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spc="100" dirty="0">
                <a:solidFill>
                  <a:srgbClr val="2469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8 Метод наименьших квадратов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78132-2275-4C07-8C17-DD492C424319}"/>
              </a:ext>
            </a:extLst>
          </p:cNvPr>
          <p:cNvSpPr txBox="1"/>
          <p:nvPr/>
        </p:nvSpPr>
        <p:spPr>
          <a:xfrm>
            <a:off x="994695" y="3428999"/>
            <a:ext cx="7261894" cy="1152526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Новый способ построения</a:t>
            </a:r>
            <a:br>
              <a:rPr lang="ru-RU" dirty="0"/>
            </a:br>
            <a:r>
              <a:rPr lang="ru-RU" dirty="0"/>
              <a:t>качественных оценок.</a:t>
            </a:r>
          </a:p>
        </p:txBody>
      </p:sp>
    </p:spTree>
    <p:extLst>
      <p:ext uri="{BB962C8B-B14F-4D97-AF65-F5344CB8AC3E}">
        <p14:creationId xmlns:p14="http://schemas.microsoft.com/office/powerpoint/2010/main" val="155575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7030" y="1999350"/>
            <a:ext cx="10221538" cy="122413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Тест на твердость по Янке</a:t>
            </a:r>
          </a:p>
        </p:txBody>
      </p:sp>
    </p:spTree>
    <p:extLst>
      <p:ext uri="{BB962C8B-B14F-4D97-AF65-F5344CB8AC3E}">
        <p14:creationId xmlns:p14="http://schemas.microsoft.com/office/powerpoint/2010/main" val="98452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998636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3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Прогнозирование</a:t>
            </a: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 твердости австралийской древесины</a:t>
            </a:r>
            <a:endParaRPr lang="en-US" sz="4000" spc="100" dirty="0">
              <a:solidFill>
                <a:srgbClr val="246AF3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3172" y="2221570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sz="2400" dirty="0">
                <a:effectLst/>
                <a:ea typeface="Calibri" panose="020F0502020204030204" pitchFamily="34" charset="0"/>
              </a:rPr>
              <a:t>Тест на твердость по Янке является стандартным тестом</a:t>
            </a:r>
            <a:br>
              <a:rPr lang="ru-RU" sz="2400" dirty="0">
                <a:effectLst/>
                <a:ea typeface="Calibri" panose="020F0502020204030204" pitchFamily="34" charset="0"/>
              </a:rPr>
            </a:br>
            <a:r>
              <a:rPr lang="ru-RU" sz="2400" dirty="0">
                <a:effectLst/>
                <a:ea typeface="Calibri" panose="020F0502020204030204" pitchFamily="34" charset="0"/>
              </a:rPr>
              <a:t>для измерения твердости древесины. Он измеряет усилие, необходимое для вдавливания стального шарика диаметром 11</a:t>
            </a:r>
            <a:r>
              <a:rPr lang="en-US" sz="2400" dirty="0">
                <a:effectLst/>
                <a:ea typeface="Calibri" panose="020F0502020204030204" pitchFamily="34" charset="0"/>
              </a:rPr>
              <a:t>.</a:t>
            </a:r>
            <a:r>
              <a:rPr lang="ru-RU" sz="2400" dirty="0">
                <a:effectLst/>
                <a:ea typeface="Calibri" panose="020F0502020204030204" pitchFamily="34" charset="0"/>
              </a:rPr>
              <a:t>28 миллиметра в древесину на глубину, равную половине диаметра шарика. Непосредственно измерить твердость Янки сложно. Однако она связана с плотностью древесины, которую легко измерить.</a:t>
            </a:r>
            <a:endParaRPr lang="en-US" sz="2400" dirty="0"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309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998636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3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Связь между твёрдостью и плотностью древесины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9C57B90-DAE6-4595-81E7-0ABEA265FE3C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74562212"/>
              </p:ext>
            </p:extLst>
          </p:nvPr>
        </p:nvGraphicFramePr>
        <p:xfrm>
          <a:off x="993171" y="2205039"/>
          <a:ext cx="10237184" cy="3744241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279648">
                  <a:extLst>
                    <a:ext uri="{9D8B030D-6E8A-4147-A177-3AD203B41FA5}">
                      <a16:colId xmlns:a16="http://schemas.microsoft.com/office/drawing/2014/main" val="2484426692"/>
                    </a:ext>
                  </a:extLst>
                </a:gridCol>
                <a:gridCol w="1279648">
                  <a:extLst>
                    <a:ext uri="{9D8B030D-6E8A-4147-A177-3AD203B41FA5}">
                      <a16:colId xmlns:a16="http://schemas.microsoft.com/office/drawing/2014/main" val="2442392459"/>
                    </a:ext>
                  </a:extLst>
                </a:gridCol>
                <a:gridCol w="1279648">
                  <a:extLst>
                    <a:ext uri="{9D8B030D-6E8A-4147-A177-3AD203B41FA5}">
                      <a16:colId xmlns:a16="http://schemas.microsoft.com/office/drawing/2014/main" val="1337215352"/>
                    </a:ext>
                  </a:extLst>
                </a:gridCol>
                <a:gridCol w="1279648">
                  <a:extLst>
                    <a:ext uri="{9D8B030D-6E8A-4147-A177-3AD203B41FA5}">
                      <a16:colId xmlns:a16="http://schemas.microsoft.com/office/drawing/2014/main" val="223483309"/>
                    </a:ext>
                  </a:extLst>
                </a:gridCol>
                <a:gridCol w="1279648">
                  <a:extLst>
                    <a:ext uri="{9D8B030D-6E8A-4147-A177-3AD203B41FA5}">
                      <a16:colId xmlns:a16="http://schemas.microsoft.com/office/drawing/2014/main" val="172156778"/>
                    </a:ext>
                  </a:extLst>
                </a:gridCol>
                <a:gridCol w="1279648">
                  <a:extLst>
                    <a:ext uri="{9D8B030D-6E8A-4147-A177-3AD203B41FA5}">
                      <a16:colId xmlns:a16="http://schemas.microsoft.com/office/drawing/2014/main" val="1062926571"/>
                    </a:ext>
                  </a:extLst>
                </a:gridCol>
                <a:gridCol w="1279648">
                  <a:extLst>
                    <a:ext uri="{9D8B030D-6E8A-4147-A177-3AD203B41FA5}">
                      <a16:colId xmlns:a16="http://schemas.microsoft.com/office/drawing/2014/main" val="882407620"/>
                    </a:ext>
                  </a:extLst>
                </a:gridCol>
                <a:gridCol w="1279648">
                  <a:extLst>
                    <a:ext uri="{9D8B030D-6E8A-4147-A177-3AD203B41FA5}">
                      <a16:colId xmlns:a16="http://schemas.microsoft.com/office/drawing/2014/main" val="3669444973"/>
                    </a:ext>
                  </a:extLst>
                </a:gridCol>
              </a:tblGrid>
              <a:tr h="579356"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kern="1200" dirty="0">
                          <a:solidFill>
                            <a:srgbClr val="246AF3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density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kern="1200" dirty="0">
                          <a:solidFill>
                            <a:srgbClr val="246AF3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hardness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kern="1200" dirty="0">
                          <a:solidFill>
                            <a:srgbClr val="246AF3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density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kern="1200" dirty="0">
                          <a:solidFill>
                            <a:srgbClr val="246AF3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hardness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kern="1200" dirty="0">
                          <a:solidFill>
                            <a:srgbClr val="246AF3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density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kern="1200" dirty="0">
                          <a:solidFill>
                            <a:srgbClr val="246AF3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hardness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kern="1200">
                          <a:solidFill>
                            <a:srgbClr val="246AF3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density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kern="1200" dirty="0">
                          <a:solidFill>
                            <a:srgbClr val="246AF3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hardness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01009974"/>
                  </a:ext>
                </a:extLst>
              </a:tr>
              <a:tr h="392325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24,7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484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38,5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914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42,9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57,3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4208349"/>
                  </a:ext>
                </a:extLst>
              </a:tr>
              <a:tr h="348689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24,8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427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38,8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45,8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1180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57,6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1980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70776967"/>
                  </a:ext>
                </a:extLst>
              </a:tr>
              <a:tr h="348689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27,3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413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39,3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1020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46,9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1400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59,2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2310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94972100"/>
                  </a:ext>
                </a:extLst>
              </a:tr>
              <a:tr h="348689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28,4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517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39,4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1210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48,2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1760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59,8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1940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0207062"/>
                  </a:ext>
                </a:extLst>
              </a:tr>
              <a:tr h="348689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28,4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549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39,9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989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51,5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1710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66,0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3260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94351140"/>
                  </a:ext>
                </a:extLst>
              </a:tr>
              <a:tr h="348689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29,0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648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40,3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1160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51,5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67,4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2700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71403353"/>
                  </a:ext>
                </a:extLst>
              </a:tr>
              <a:tr h="348689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30,3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587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40,6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1010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53,4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1880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68,8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2890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74234785"/>
                  </a:ext>
                </a:extLst>
              </a:tr>
              <a:tr h="348689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32,7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704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40,7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1100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56,0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1980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69,1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2740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50536638"/>
                  </a:ext>
                </a:extLst>
              </a:tr>
              <a:tr h="331737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35,6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979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40,7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1130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56,5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1820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69,1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3140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38865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730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998636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3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Прогнозирование</a:t>
            </a: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 твердости австралийской древесины</a:t>
            </a:r>
            <a:endParaRPr lang="en-US" sz="4000" spc="100" dirty="0">
              <a:solidFill>
                <a:srgbClr val="246AF3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3172" y="2221570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sz="2400" dirty="0">
                <a:effectLst/>
                <a:ea typeface="Calibri" panose="020F0502020204030204" pitchFamily="34" charset="0"/>
              </a:rPr>
              <a:t>Чтобы получить представление о взаимосвязи между твердостью и плотностью, построим диаграмму рассеяния</a:t>
            </a:r>
            <a:r>
              <a:rPr lang="en-US" sz="2400" dirty="0">
                <a:ea typeface="Calibri" panose="020F0502020204030204" pitchFamily="34" charset="0"/>
              </a:rPr>
              <a:t>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882835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21FDF3-1FCD-44CC-A65D-6C22F9D6B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428" y="993428"/>
            <a:ext cx="7701144" cy="488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457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Идея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51788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Твёрдость по Янке связана с плотностью: чем выше плотность древесины, тем выше значение твердости, т.е.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твердость=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(плотность древесины)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для некоторой возрастающей функции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r>
                  <a:rPr lang="ru-RU" sz="2400" dirty="0"/>
                  <a:t>Но случайность также имеет место.</a:t>
                </a:r>
              </a:p>
              <a:p>
                <a:r>
                  <a:rPr lang="ru-RU" sz="2400" dirty="0"/>
                  <a:t>Например, для значения плотности 51</a:t>
                </a:r>
                <a:r>
                  <a:rPr lang="en-US" sz="2400" dirty="0"/>
                  <a:t>.</a:t>
                </a:r>
                <a:r>
                  <a:rPr lang="ru-RU" sz="2400" dirty="0"/>
                  <a:t>5 наблюдались различные соответствующие значения твердости по Янке.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517882"/>
              </a:xfrm>
              <a:prstGeom prst="rect">
                <a:avLst/>
              </a:prstGeom>
              <a:blipFill>
                <a:blip r:embed="rId3"/>
                <a:stretch>
                  <a:fillRect l="-894" t="-1386" r="-8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5997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Регрессионная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>
                    <a:solidFill>
                      <a:srgbClr val="246AF3"/>
                    </a:solidFill>
                  </a:rPr>
                  <a:t>Зависимость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твердость = 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(плотность древесины)+случайные колебания.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>
                    <a:solidFill>
                      <a:srgbClr val="246AF3"/>
                    </a:solidFill>
                  </a:rPr>
                  <a:t>Вопрос</a:t>
                </a:r>
                <a:endParaRPr lang="en-US" sz="2400" dirty="0">
                  <a:solidFill>
                    <a:srgbClr val="246AF3"/>
                  </a:solidFill>
                </a:endParaRPr>
              </a:p>
              <a:p>
                <a:r>
                  <a:rPr lang="ru-RU" sz="2400" dirty="0"/>
                  <a:t>Какая функция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ru-RU" sz="2400" dirty="0"/>
                  <a:t> хорошо соответствует точкам на диаграмме рассеяния?</a:t>
                </a:r>
              </a:p>
              <a:p>
                <a:r>
                  <a:rPr lang="ru-RU" sz="2400" dirty="0"/>
                  <a:t>На этот вопрос трудно ответить.</a:t>
                </a:r>
              </a:p>
              <a:p>
                <a:r>
                  <a:rPr lang="ru-RU" sz="2400" dirty="0"/>
                  <a:t>У нас может быть так мало знаний об изучаемом явлении, и точки данных могут быть разбросаны таким образом, что мы не сможем определить конкретный вид функции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ru-RU" sz="2400" dirty="0"/>
                  <a:t> по наблюдаемым значениям. </a:t>
                </a:r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  <a:blipFill>
                <a:blip r:embed="rId3"/>
                <a:stretch>
                  <a:fillRect l="-894" t="-21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90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Выбор функции зависимости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87792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Глядя на диаграмму рассеяния, мы видим, что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ru-RU" sz="2400" dirty="0"/>
                  <a:t> – это не прямая линия, т.е. твердость нелинейно зависит от плотности древесины.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В самой простой модели мы будем считать, что точки моделируется случайными колебаниями относительно </a:t>
                </a:r>
                <a:r>
                  <a:rPr lang="ru-RU" sz="2400" dirty="0">
                    <a:solidFill>
                      <a:srgbClr val="246AF3"/>
                    </a:solidFill>
                  </a:rPr>
                  <a:t>прямой линии</a:t>
                </a:r>
                <a:r>
                  <a:rPr lang="ru-RU" sz="2400" dirty="0"/>
                  <a:t>: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твердость = 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⋅(плотность древесины)+случайное колебание.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877922"/>
              </a:xfrm>
              <a:prstGeom prst="rect">
                <a:avLst/>
              </a:prstGeom>
              <a:blipFill>
                <a:blip r:embed="rId3"/>
                <a:stretch>
                  <a:fillRect l="-894" t="-1256" r="-8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1773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Модель линейной регрессии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87792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600" dirty="0">
                    <a:solidFill>
                      <a:srgbClr val="246AF3"/>
                    </a:solidFill>
                  </a:rPr>
                  <a:t>Дано:</a:t>
                </a:r>
                <a:r>
                  <a:rPr lang="ru-RU" sz="2600" dirty="0"/>
                  <a:t> двумерный набор данных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26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ru-RU" sz="260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26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ru-RU" sz="2600">
                          <a:latin typeface="Cambria Math" panose="02040503050406030204" pitchFamily="18" charset="0"/>
                        </a:rPr>
                        <m:t>,…,</m:t>
                      </m:r>
                      <m:d>
                        <m:d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6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sz="26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600" dirty="0"/>
              </a:p>
              <a:p>
                <a:r>
                  <a:rPr lang="ru-RU" sz="2600" dirty="0">
                    <a:solidFill>
                      <a:srgbClr val="246AF3"/>
                    </a:solidFill>
                  </a:rPr>
                  <a:t>Условия: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6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60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600" dirty="0"/>
                  <a:t> являются неслучайными, 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6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60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600" dirty="0"/>
                  <a:t> являются реализациями случайных величин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6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60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600" dirty="0"/>
                  <a:t>, удовлетворяющих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6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6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260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6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6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6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600">
                          <a:latin typeface="Cambria Math" panose="02040503050406030204" pitchFamily="18" charset="0"/>
                        </a:rPr>
                        <m:t>для </m:t>
                      </m:r>
                      <m:r>
                        <a:rPr lang="en-US" sz="260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600">
                          <a:latin typeface="Cambria Math" panose="02040503050406030204" pitchFamily="18" charset="0"/>
                        </a:rPr>
                        <m:t>=1, 2,…, </m:t>
                      </m:r>
                      <m:r>
                        <a:rPr lang="en-US" sz="26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sz="26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600" dirty="0"/>
              </a:p>
              <a:p>
                <a:endParaRPr lang="ru-RU" sz="2600" dirty="0"/>
              </a:p>
              <a:p>
                <a:r>
                  <a:rPr lang="ru-RU" sz="2600" dirty="0"/>
                  <a:t>Здесь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6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60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6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600" dirty="0"/>
                  <a:t> – независимые случайные величины с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60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260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ru-RU" sz="2600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ru-RU" sz="260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ru-RU" sz="26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26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60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ru-RU" sz="2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6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877922"/>
              </a:xfrm>
              <a:prstGeom prst="rect">
                <a:avLst/>
              </a:prstGeom>
              <a:blipFill>
                <a:blip r:embed="rId3"/>
                <a:stretch>
                  <a:fillRect l="-1073" t="-23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915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21FDF3-1FCD-44CC-A65D-6C22F9D6B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428" y="993428"/>
            <a:ext cx="7701144" cy="488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14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Линейность</a:t>
            </a:r>
            <a:r>
              <a:rPr lang="en-US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?</a:t>
            </a:r>
            <a:endParaRPr lang="ru-RU" sz="4000" spc="100" dirty="0">
              <a:solidFill>
                <a:srgbClr val="246AF3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light" panose="020B04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87792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Можно задать вопрос, не будет ли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𝛾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/>
                  <a:t> более подходящей моделью?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Пытаясь ответить на этот вопрос, мы вступаем в область </a:t>
                </a:r>
                <a:r>
                  <a:rPr lang="ru-RU" sz="2400" dirty="0">
                    <a:solidFill>
                      <a:srgbClr val="246AF3"/>
                    </a:solidFill>
                  </a:rPr>
                  <a:t>множественной линейной регрессии</a:t>
                </a:r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877922"/>
              </a:xfrm>
              <a:prstGeom prst="rect">
                <a:avLst/>
              </a:prstGeom>
              <a:blipFill>
                <a:blip r:embed="rId3"/>
                <a:stretch>
                  <a:fillRect l="-894" t="-1099" r="-8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882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Модель линейной регрессии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87792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Линия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400" dirty="0"/>
                  <a:t> называется </a:t>
                </a:r>
                <a:r>
                  <a:rPr lang="ru-RU" sz="2400" dirty="0">
                    <a:solidFill>
                      <a:srgbClr val="246AF3"/>
                    </a:solidFill>
                  </a:rPr>
                  <a:t>линией регрессии</a:t>
                </a:r>
                <a:r>
                  <a:rPr lang="ru-RU" sz="2400" dirty="0"/>
                  <a:t>. 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Предполагается, что случайные величины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400" dirty="0"/>
                  <a:t> независимы, когда различные измерения не влияют друг на друга. Независимость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подразумевает независимость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. Однако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400" dirty="0"/>
                  <a:t> не образуют случайную выборку: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имеют разные распределения, потому что каждый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имеет своё математическое ожидание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240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endParaRPr lang="ru-RU" sz="2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877922"/>
              </a:xfrm>
              <a:prstGeom prst="rect">
                <a:avLst/>
              </a:prstGeom>
              <a:blipFill>
                <a:blip r:embed="rId3"/>
                <a:stretch>
                  <a:fillRect l="-894" t="-1256" r="-8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811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4994" y="2221198"/>
                <a:ext cx="10221538" cy="207189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Требуется получить оценки для параметров </a:t>
                </a:r>
                <a14:m>
                  <m:oMath xmlns:m="http://schemas.openxmlformats.org/officeDocument/2006/math">
                    <m:r>
                      <a:rPr lang="ru-RU" sz="4000" spc="10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𝛼</m:t>
                    </m:r>
                  </m:oMath>
                </a14:m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4000" spc="10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𝛽</m:t>
                    </m:r>
                  </m:oMath>
                </a14:m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 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4000" i="1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</m:ctrlPr>
                      </m:sSupPr>
                      <m:e>
                        <m:r>
                          <a:rPr lang="ru-RU" sz="4000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  <m:t>𝜎</m:t>
                        </m:r>
                      </m:e>
                      <m:sup>
                        <m:r>
                          <a:rPr lang="ru-RU" sz="4000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 в этой модели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94" y="2221198"/>
                <a:ext cx="10221538" cy="2071898"/>
              </a:xfrm>
              <a:prstGeom prst="rect">
                <a:avLst/>
              </a:prstGeom>
              <a:blipFill>
                <a:blip r:embed="rId3"/>
                <a:stretch>
                  <a:fillRect l="-2148" t="-82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8320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Оценка максимального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Мы не можем использовать оценки максимального правдоподобия для этих параметров потому, что у нас нет дополнительных знаний</a:t>
                </a:r>
                <a:br>
                  <a:rPr lang="ru-RU" sz="2400" dirty="0"/>
                </a:br>
                <a:r>
                  <a:rPr lang="ru-RU" sz="2400" dirty="0"/>
                  <a:t>о распределении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(и, следовательно,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).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  <a:blipFill>
                <a:blip r:embed="rId3"/>
                <a:stretch>
                  <a:fillRect l="-894" t="-25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326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МНК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Мы хотим выбрать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400" dirty="0"/>
                  <a:t> таким образом, чтобы получить линию, которая наилучшим образом соответствует данным.</a:t>
                </a:r>
                <a:br>
                  <a:rPr lang="ru-RU" sz="2400" dirty="0"/>
                </a:br>
                <a:r>
                  <a:rPr lang="ru-RU" sz="2400" dirty="0"/>
                  <a:t>Классический подход для этого заключается в рассмотрении суммы квадратов расстояний между наблюдаемыми значениями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и значениями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на линии регрессии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  <a:blipFill>
                <a:blip r:embed="rId3"/>
                <a:stretch>
                  <a:fillRect l="-894" t="-25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529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МНК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Метод наименьших квадратов предписывает выбирать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400" dirty="0"/>
                  <a:t> таким образом, чтобы сумма квадратов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была минимальной.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  <a:blipFill>
                <a:blip r:embed="rId3"/>
                <a:stretch>
                  <a:fillRect l="-894" t="-25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217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МНК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Чтобы найти эти оценки мы дифференцируем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𝑆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 относительно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400" dirty="0"/>
                  <a:t> и приравниваем производные  к 0: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𝜕𝛼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)=0⇔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ru-RU" sz="240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𝜕𝛽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)=0⇔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u-RU" sz="2400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ru-RU" sz="2400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  <a:blipFill>
                <a:blip r:embed="rId3"/>
                <a:stretch>
                  <a:fillRect l="-894" t="-25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873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МНК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Это эквивалентно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𝑛𝑎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𝛽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𝛽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  <a:blipFill>
                <a:blip r:embed="rId3"/>
                <a:stretch>
                  <a:fillRect l="-894" t="-25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6970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Древесина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Для данных о древесине из таблицы мы получаем систему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+1646.4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 =52901</m:t>
                      </m:r>
                    </m:oMath>
                  </m:oMathPara>
                </a14:m>
                <a:endParaRPr lang="ru-R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</a:rPr>
                        <m:t>1646.4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+81750.02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=2790525.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Это два уравнения с двумя неизвестными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r>
                  <a:rPr lang="ru-RU" sz="2400" dirty="0"/>
                  <a:t>Решая, получаем оценки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ru-RU" sz="2400" i="1">
                        <a:latin typeface="Cambria Math" panose="02040503050406030204" pitchFamily="18" charset="0"/>
                      </a:rPr>
                      <m:t>=−1160.5</m:t>
                    </m:r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ru-RU" sz="2400" i="1">
                        <a:latin typeface="Cambria Math" panose="02040503050406030204" pitchFamily="18" charset="0"/>
                      </a:rPr>
                      <m:t>=57.51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  <a:blipFill>
                <a:blip r:embed="rId3"/>
                <a:stretch>
                  <a:fillRect l="-894" t="-25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541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Древесина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9668C7-1574-4E67-8755-AB483EB59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628" y="1999648"/>
            <a:ext cx="6696744" cy="436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334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МНК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В общем случае формулы для оценок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ru-RU" sz="2400" dirty="0"/>
                  <a:t> выглядят так:</a:t>
                </a:r>
              </a:p>
              <a:p>
                <a:endParaRPr lang="ru-R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̂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ba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endParaRPr lang="ru-RU" sz="2400" dirty="0"/>
              </a:p>
              <a:p>
                <a:r>
                  <a:rPr lang="ru-RU" sz="2400" dirty="0"/>
                  <a:t>Поскольку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 является эллиптическим параболоидом,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ru-RU" sz="2400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ru-RU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 является минимумом для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  <a:blipFill>
                <a:blip r:embed="rId3"/>
                <a:stretch>
                  <a:fillRect l="-894" t="-16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506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4994" y="2221198"/>
            <a:ext cx="7847310" cy="156784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Оценки методом наименьших квадратов являются несмещенными</a:t>
            </a:r>
          </a:p>
        </p:txBody>
      </p:sp>
    </p:spTree>
    <p:extLst>
      <p:ext uri="{BB962C8B-B14F-4D97-AF65-F5344CB8AC3E}">
        <p14:creationId xmlns:p14="http://schemas.microsoft.com/office/powerpoint/2010/main" val="1151911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Несмещенность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4000" i="1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</m:ctrlPr>
                      </m:accPr>
                      <m:e>
                        <m:r>
                          <a:rPr lang="ru-RU" sz="4000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  <m:t>𝛽</m:t>
                        </m:r>
                      </m:e>
                    </m:acc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31132" b="-349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94993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00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ru-RU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num>
                            <m:den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subHide m:val="on"/>
                                          <m:supHide m:val="on"/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2000" b="0" i="0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d>
                                <m:d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9499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4039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Несмещенность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4000" i="1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</m:ctrlPr>
                      </m:accPr>
                      <m:e>
                        <m:r>
                          <a:rPr lang="ru-RU" sz="4000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  <m:t>𝛽</m:t>
                        </m:r>
                      </m:e>
                    </m:acc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31132" b="-349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94993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00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ru-RU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d>
                                <m:d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sz="200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9499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5722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Несмещенность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4000" i="1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</m:ctrlPr>
                      </m:accPr>
                      <m:e>
                        <m:r>
                          <a:rPr lang="ru-RU" sz="4000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  <m:t>𝛽</m:t>
                        </m:r>
                      </m:e>
                    </m:acc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31132" b="-349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94993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9499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104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Несмещенность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4000" i="1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</m:ctrlPr>
                      </m:accPr>
                      <m:e>
                        <m:r>
                          <a:rPr lang="ru-RU" sz="4000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  <m:t>𝛽</m:t>
                        </m:r>
                      </m:e>
                    </m:acc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31132" b="-349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94993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𝛽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9499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141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Несмещенность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4000" i="1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</m:ctrlPr>
                      </m:accPr>
                      <m:e>
                        <m:r>
                          <a:rPr lang="ru-RU" sz="4000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  <m:t>𝛽</m:t>
                        </m:r>
                      </m:e>
                    </m:acc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31132" b="-349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94993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𝛽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9499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755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Несмещенность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4000" i="1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</m:ctrlPr>
                      </m:accPr>
                      <m:e>
                        <m:r>
                          <a:rPr lang="ru-RU" sz="4000" spc="10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  <m:t>𝛼</m:t>
                        </m:r>
                      </m:e>
                    </m:acc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26415" b="-39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00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</m:d>
                      <m:r>
                        <a:rPr lang="ru-RU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200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sz="20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b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ru-RU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ru-RU" sz="2000">
                              <a:latin typeface="Cambria Math" panose="02040503050406030204" pitchFamily="18" charset="0"/>
                            </a:rPr>
                            <m:t>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ru-RU" sz="20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b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00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ru-RU" sz="200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ru-RU" sz="24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027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Диаграмма рассеяния остатков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Остаток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определяется как расстояние по вертикали между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2400" dirty="0"/>
                  <a:t>−й точкой и расчетной линией регрессии: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ru-RU" sz="240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=1, 2, …,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Когда подходит линейная модель, диаграмма рассеяния остатков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относительно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должна показывать случайную колебания около нуля, она не должна демонстрировать никакого тренда</a:t>
                </a:r>
              </a:p>
              <a:p>
                <a:r>
                  <a:rPr lang="ru-RU" sz="2400" dirty="0"/>
                  <a:t>или закономерности.</a:t>
                </a:r>
              </a:p>
              <a:p>
                <a:endParaRPr lang="ru-RU" sz="1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  <a:blipFill>
                <a:blip r:embed="rId3"/>
                <a:stretch>
                  <a:fillRect l="-894" t="-1331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4327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Гистограмма остатков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03ECA3-D586-484B-B5B6-440E13111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242" y="1999648"/>
            <a:ext cx="5961078" cy="424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0943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Диаграмма рассеяния остатков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B2E65E-FF73-4FAD-906B-5B0613510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652" y="2215548"/>
            <a:ext cx="6264696" cy="392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129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Гетероскедастичность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Предположение о равной дисперсии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(и, следовательно,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) называется </a:t>
                </a:r>
                <a:r>
                  <a:rPr lang="ru-RU" sz="2400" dirty="0">
                    <a:solidFill>
                      <a:srgbClr val="246AF3"/>
                    </a:solidFill>
                  </a:rPr>
                  <a:t>гомоскедастичностью</a:t>
                </a:r>
                <a:r>
                  <a:rPr lang="ru-RU" sz="2400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В случае, если дисперсия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зависит от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, мы говорим о </a:t>
                </a:r>
                <a:r>
                  <a:rPr lang="ru-RU" sz="2400" dirty="0">
                    <a:solidFill>
                      <a:srgbClr val="246AF3"/>
                    </a:solidFill>
                  </a:rPr>
                  <a:t>гетероскедастичности</a:t>
                </a:r>
                <a:r>
                  <a:rPr lang="ru-RU" sz="2400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Например, гетероскедастичность возникает, когда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с большим ожидаемым значением имеют большую дисперсию, чем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с малыми ожидаемыми значениями.</a:t>
                </a:r>
              </a:p>
              <a:p>
                <a:endParaRPr lang="ru-RU" sz="1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  <a:blipFill>
                <a:blip r:embed="rId3"/>
                <a:stretch>
                  <a:fillRect l="-894" t="-1331" r="-8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7121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Связь с максимальной вероятностью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Для применения метода наименьших квадратов не требуется никаких предположений о типе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. В случае, если тип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известен, может быть применен принцип максимального правдоподобия.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  <a:blipFill>
                <a:blip r:embed="rId3"/>
                <a:stretch>
                  <a:fillRect l="-894" t="-1331" r="-8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2787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Линейная регрессия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Рассмотрим классическую ситуацию, когда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независимы</a:t>
                </a:r>
                <a:br>
                  <a:rPr lang="en-US" sz="2400" dirty="0"/>
                </a:br>
                <a:r>
                  <a:rPr lang="ru-RU" sz="2400" dirty="0"/>
                  <a:t>с распределением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(0, 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.</a:t>
                </a:r>
                <a:br>
                  <a:rPr lang="en-US" sz="2400" dirty="0"/>
                </a:br>
                <a:r>
                  <a:rPr lang="ru-RU" sz="2400" dirty="0"/>
                  <a:t>Каковы оценки максимального правдоподобия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400" dirty="0"/>
                  <a:t>?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  <a:blipFill>
                <a:blip r:embed="rId3"/>
                <a:stretch>
                  <a:fillRect l="-894" t="-13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7202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Линейная регрессия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В этом случае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независимы,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имеет распределение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Предполагая, что линейная модель подходит для моделирования данного двумерного набора данных, остаток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должен выглядеть</a:t>
                </a:r>
                <a:br>
                  <a:rPr lang="en-US" sz="2400" dirty="0"/>
                </a:br>
                <a:r>
                  <a:rPr lang="ru-RU" sz="2400" dirty="0"/>
                  <a:t>как реализация случайной выборки из нормального распределения.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  <a:blipFill>
                <a:blip r:embed="rId3"/>
                <a:stretch>
                  <a:fillRect l="-894" t="-13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3564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Линейная 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300" dirty="0"/>
                  <a:t>Когда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3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3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300" dirty="0"/>
                  <a:t> имеет </a:t>
                </a:r>
                <a14:m>
                  <m:oMath xmlns:m="http://schemas.openxmlformats.org/officeDocument/2006/math">
                    <m:r>
                      <a:rPr lang="ru-RU" sz="23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3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3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30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30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3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3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30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ru-RU" sz="2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3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3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3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300" dirty="0"/>
                  <a:t> распределение, плотность вероятности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3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3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300" dirty="0"/>
                  <a:t> задается через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23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30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sz="230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ru-RU" sz="23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3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sz="230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23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u-RU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sSub>
                                        <m:sSubPr>
                                          <m:ctrlPr>
                                            <a:rPr lang="ru-RU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30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30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u-RU" sz="23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ru-RU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ru-RU" sz="2300">
                          <a:latin typeface="Cambria Math" panose="02040503050406030204" pitchFamily="18" charset="0"/>
                        </a:rPr>
                        <m:t>    для −∞&lt;</m:t>
                      </m:r>
                      <m:r>
                        <a:rPr lang="ru-RU" sz="230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sz="2300">
                          <a:latin typeface="Cambria Math" panose="02040503050406030204" pitchFamily="18" charset="0"/>
                        </a:rPr>
                        <m:t>&lt;∞.</m:t>
                      </m:r>
                    </m:oMath>
                  </m:oMathPara>
                </a14:m>
                <a:endParaRPr lang="ru-RU" sz="23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  <a:blipFill>
                <a:blip r:embed="rId3"/>
                <a:stretch>
                  <a:fillRect l="-834" t="-11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90744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Линейная 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87792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300" dirty="0"/>
                  <a:t>Поскольку 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3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ru-RU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ru-RU" sz="230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3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ru-RU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3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</m:e>
                      </m:func>
                      <m:r>
                        <a:rPr lang="ru-RU" sz="230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3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ru-RU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ru-RU" sz="23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e>
                          </m:d>
                        </m:e>
                      </m:func>
                      <m:r>
                        <a:rPr lang="ru-RU" sz="23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3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ru-RU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3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3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300" dirty="0"/>
                  <a:t>логарифмическая </a:t>
                </a:r>
                <a:r>
                  <a:rPr lang="ru-RU" sz="2400" dirty="0"/>
                  <a:t>вероятность</a:t>
                </a:r>
                <a:r>
                  <a:rPr lang="ru-RU" sz="2300" dirty="0"/>
                  <a:t> такова: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ru-RU" sz="23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3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ru-RU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ru-RU" sz="230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3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ru-RU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ru-RU" sz="2300">
                          <a:latin typeface="Cambria Math" panose="02040503050406030204" pitchFamily="18" charset="0"/>
                        </a:rPr>
                        <m:t>+…+</m:t>
                      </m:r>
                      <m:func>
                        <m:func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3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ru-RU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sz="230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ru-RU" sz="230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23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30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ru-RU" sz="230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3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ru-RU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3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</m:e>
                      </m:func>
                      <m:r>
                        <a:rPr lang="ru-RU" sz="23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sz="230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3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ru-RU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ru-RU" sz="23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e>
                          </m:d>
                        </m:e>
                      </m:func>
                      <m:r>
                        <a:rPr lang="ru-RU" sz="23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ru-RU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3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ru-RU" sz="23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ru-RU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3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3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3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ru-RU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30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3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3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230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ru-RU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30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3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3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ru-RU" sz="23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3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877922"/>
              </a:xfrm>
              <a:prstGeom prst="rect">
                <a:avLst/>
              </a:prstGeom>
              <a:blipFill>
                <a:blip r:embed="rId3"/>
                <a:stretch>
                  <a:fillRect l="-834" t="-12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5189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Линейная регрессия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Для любого фиксированного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𝜎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sz="2400" dirty="0"/>
                  <a:t> логарифмическая вероятность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𝑙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𝜎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 достигает своего максимума именно тогда, когда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минимальна. Следовательно, в случае,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независимы</a:t>
                </a:r>
                <a:br>
                  <a:rPr lang="en-US" sz="2400" dirty="0"/>
                </a:br>
                <a:r>
                  <a:rPr lang="ru-RU" sz="2400" dirty="0"/>
                  <a:t>с распределением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(0, 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, принцип максимального правдоподобия</a:t>
                </a:r>
                <a:br>
                  <a:rPr lang="en-US" sz="2400" dirty="0"/>
                </a:br>
                <a:r>
                  <a:rPr lang="ru-RU" sz="2400" dirty="0"/>
                  <a:t>и метод наименьших квадратов дают одинаковые оценки.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661551"/>
              </a:xfrm>
              <a:prstGeom prst="rect">
                <a:avLst/>
              </a:prstGeom>
              <a:blipFill>
                <a:blip r:embed="rId3"/>
                <a:stretch>
                  <a:fillRect l="-894" t="-1331" r="-8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79144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114218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Метод наименьших квадратов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662" y="2420888"/>
            <a:ext cx="10226675" cy="345603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sz="2400" dirty="0"/>
              <a:t>Оценка методом наименьших квадратов.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sz="2400" dirty="0"/>
              <a:t>Несмещенность оценок МНК.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sz="2400" dirty="0"/>
              <a:t>Гетероскедастичность.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sz="2400" dirty="0"/>
              <a:t>Гомоскедастичность.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sz="2400" dirty="0"/>
              <a:t>Связь с максимальным правдоподобием.</a:t>
            </a:r>
          </a:p>
        </p:txBody>
      </p:sp>
    </p:spTree>
    <p:extLst>
      <p:ext uri="{BB962C8B-B14F-4D97-AF65-F5344CB8AC3E}">
        <p14:creationId xmlns:p14="http://schemas.microsoft.com/office/powerpoint/2010/main" val="1331655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B02A613E-02D3-4191-ACCC-97EAB3767AB7}"/>
  <p:tag name="ISPRING_RESOURCE_FOLDER" val="C:\Users\Alexander.Kozlov.SCHOOL\Google Drive\ИПС\Учебный процесс\Подготовительные курсы\Лекции\Лекция 1. Натуральные числа\Базовый тип данных. Натуральные числа\"/>
  <p:tag name="ISPRING_PRESENTATION_PATH" val="C:\Users\Alexander.Kozlov.SCHOOL\Google Drive\ИПС\Учебный процесс\Подготовительные курсы\Лекции\Лекция 1. Натуральные числа\Базовый тип данных. Натуральные числа.pptx"/>
  <p:tag name="ISPRING_PROJECT_FOLDER_UPDATED" val="1"/>
  <p:tag name="ISPRING_SCREEN_RECS_UPDATED" val="C:\Users\Alexander.Kozlov.SCHOOL\Google Drive\ИПС\Учебный процесс\Подготовительные курсы\Лекции\Лекция 1. Натуральные числа\Базовый тип данных. Натуральные числа\"/>
</p:tagLst>
</file>

<file path=ppt/theme/theme1.xml><?xml version="1.0" encoding="utf-8"?>
<a:theme xmlns:a="http://schemas.openxmlformats.org/drawingml/2006/main" name="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онкие сплошные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TM02900722[[fn=Совет директоров]]</Template>
  <TotalTime>17653</TotalTime>
  <Words>1361</Words>
  <Application>Microsoft Office PowerPoint</Application>
  <PresentationFormat>Широкоэкранный</PresentationFormat>
  <Paragraphs>245</Paragraphs>
  <Slides>40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40</vt:i4>
      </vt:variant>
    </vt:vector>
  </HeadingPairs>
  <TitlesOfParts>
    <vt:vector size="51" baseType="lpstr">
      <vt:lpstr>Calibri</vt:lpstr>
      <vt:lpstr>Calibri Light</vt:lpstr>
      <vt:lpstr>Cambria Math</vt:lpstr>
      <vt:lpstr>Segoe UI</vt:lpstr>
      <vt:lpstr>Segoe UI Black</vt:lpstr>
      <vt:lpstr>Segoe UI Semilight</vt:lpstr>
      <vt:lpstr>Wingdings 2</vt:lpstr>
      <vt:lpstr>HDOfficeLightV0</vt:lpstr>
      <vt:lpstr>1_HDOfficeLightV0</vt:lpstr>
      <vt:lpstr>2_HDOfficeLightV0</vt:lpstr>
      <vt:lpstr>3_HDOfficeLightV0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Krokoz™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Базовый тип данных. Натуральные числа</dc:title>
  <dc:creator>Alexander</dc:creator>
  <cp:lastModifiedBy>Alexander Kozlov</cp:lastModifiedBy>
  <cp:revision>621</cp:revision>
  <dcterms:created xsi:type="dcterms:W3CDTF">2016-01-11T07:19:05Z</dcterms:created>
  <dcterms:modified xsi:type="dcterms:W3CDTF">2024-03-28T13:17:47Z</dcterms:modified>
</cp:coreProperties>
</file>