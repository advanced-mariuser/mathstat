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  <p:sldMasterId id="2147483888" r:id="rId2"/>
    <p:sldMasterId id="2147483924" r:id="rId3"/>
    <p:sldMasterId id="2147483936" r:id="rId4"/>
  </p:sldMasterIdLst>
  <p:notesMasterIdLst>
    <p:notesMasterId r:id="rId80"/>
  </p:notesMasterIdLst>
  <p:sldIdLst>
    <p:sldId id="648" r:id="rId5"/>
    <p:sldId id="359" r:id="rId6"/>
    <p:sldId id="837" r:id="rId7"/>
    <p:sldId id="853" r:id="rId8"/>
    <p:sldId id="852" r:id="rId9"/>
    <p:sldId id="917" r:id="rId10"/>
    <p:sldId id="805" r:id="rId11"/>
    <p:sldId id="872" r:id="rId12"/>
    <p:sldId id="871" r:id="rId13"/>
    <p:sldId id="855" r:id="rId14"/>
    <p:sldId id="856" r:id="rId15"/>
    <p:sldId id="857" r:id="rId16"/>
    <p:sldId id="859" r:id="rId17"/>
    <p:sldId id="858" r:id="rId18"/>
    <p:sldId id="860" r:id="rId19"/>
    <p:sldId id="861" r:id="rId20"/>
    <p:sldId id="862" r:id="rId21"/>
    <p:sldId id="854" r:id="rId22"/>
    <p:sldId id="744" r:id="rId23"/>
    <p:sldId id="863" r:id="rId24"/>
    <p:sldId id="864" r:id="rId25"/>
    <p:sldId id="865" r:id="rId26"/>
    <p:sldId id="866" r:id="rId27"/>
    <p:sldId id="867" r:id="rId28"/>
    <p:sldId id="838" r:id="rId29"/>
    <p:sldId id="868" r:id="rId30"/>
    <p:sldId id="869" r:id="rId31"/>
    <p:sldId id="870" r:id="rId32"/>
    <p:sldId id="839" r:id="rId33"/>
    <p:sldId id="874" r:id="rId34"/>
    <p:sldId id="875" r:id="rId35"/>
    <p:sldId id="873" r:id="rId36"/>
    <p:sldId id="876" r:id="rId37"/>
    <p:sldId id="877" r:id="rId38"/>
    <p:sldId id="878" r:id="rId39"/>
    <p:sldId id="840" r:id="rId40"/>
    <p:sldId id="879" r:id="rId41"/>
    <p:sldId id="880" r:id="rId42"/>
    <p:sldId id="881" r:id="rId43"/>
    <p:sldId id="882" r:id="rId44"/>
    <p:sldId id="883" r:id="rId45"/>
    <p:sldId id="884" r:id="rId46"/>
    <p:sldId id="885" r:id="rId47"/>
    <p:sldId id="886" r:id="rId48"/>
    <p:sldId id="887" r:id="rId49"/>
    <p:sldId id="888" r:id="rId50"/>
    <p:sldId id="889" r:id="rId51"/>
    <p:sldId id="890" r:id="rId52"/>
    <p:sldId id="891" r:id="rId53"/>
    <p:sldId id="892" r:id="rId54"/>
    <p:sldId id="893" r:id="rId55"/>
    <p:sldId id="894" r:id="rId56"/>
    <p:sldId id="895" r:id="rId57"/>
    <p:sldId id="897" r:id="rId58"/>
    <p:sldId id="896" r:id="rId59"/>
    <p:sldId id="898" r:id="rId60"/>
    <p:sldId id="899" r:id="rId61"/>
    <p:sldId id="900" r:id="rId62"/>
    <p:sldId id="901" r:id="rId63"/>
    <p:sldId id="902" r:id="rId64"/>
    <p:sldId id="903" r:id="rId65"/>
    <p:sldId id="904" r:id="rId66"/>
    <p:sldId id="905" r:id="rId67"/>
    <p:sldId id="906" r:id="rId68"/>
    <p:sldId id="907" r:id="rId69"/>
    <p:sldId id="908" r:id="rId70"/>
    <p:sldId id="909" r:id="rId71"/>
    <p:sldId id="910" r:id="rId72"/>
    <p:sldId id="911" r:id="rId73"/>
    <p:sldId id="913" r:id="rId74"/>
    <p:sldId id="912" r:id="rId75"/>
    <p:sldId id="914" r:id="rId76"/>
    <p:sldId id="915" r:id="rId77"/>
    <p:sldId id="916" r:id="rId78"/>
    <p:sldId id="708" r:id="rId79"/>
  </p:sldIdLst>
  <p:sldSz cx="12192000" cy="6858000"/>
  <p:notesSz cx="6858000" cy="9144000"/>
  <p:custDataLst>
    <p:tags r:id="rId81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9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3" pos="5201" userDrawn="1">
          <p15:clr>
            <a:srgbClr val="A4A3A4"/>
          </p15:clr>
        </p15:guide>
        <p15:guide id="4" orient="horz" pos="2886" userDrawn="1">
          <p15:clr>
            <a:srgbClr val="A4A3A4"/>
          </p15:clr>
        </p15:guide>
        <p15:guide id="5" pos="619" userDrawn="1">
          <p15:clr>
            <a:srgbClr val="A4A3A4"/>
          </p15:clr>
        </p15:guide>
        <p15:guide id="6" orient="horz" pos="618" userDrawn="1">
          <p15:clr>
            <a:srgbClr val="A4A3A4"/>
          </p15:clr>
        </p15:guide>
        <p15:guide id="7" orient="horz" pos="3702" userDrawn="1">
          <p15:clr>
            <a:srgbClr val="A4A3A4"/>
          </p15:clr>
        </p15:guide>
        <p15:guide id="8" pos="7061" userDrawn="1">
          <p15:clr>
            <a:srgbClr val="A4A3A4"/>
          </p15:clr>
        </p15:guide>
        <p15:guide id="9" orient="horz" pos="125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er" initials="A" lastIdx="1" clrIdx="0">
    <p:extLst>
      <p:ext uri="{19B8F6BF-5375-455C-9EA6-DF929625EA0E}">
        <p15:presenceInfo xmlns:p15="http://schemas.microsoft.com/office/powerpoint/2012/main" userId="Alexa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6AF3"/>
    <a:srgbClr val="F36324"/>
    <a:srgbClr val="E6E6E6"/>
    <a:srgbClr val="2469F0"/>
    <a:srgbClr val="4C6FB3"/>
    <a:srgbClr val="7270F5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8" autoAdjust="0"/>
    <p:restoredTop sz="83245" autoAdjust="0"/>
  </p:normalViewPr>
  <p:slideViewPr>
    <p:cSldViewPr>
      <p:cViewPr varScale="1">
        <p:scale>
          <a:sx n="53" d="100"/>
          <a:sy n="53" d="100"/>
        </p:scale>
        <p:origin x="996" y="44"/>
      </p:cViewPr>
      <p:guideLst>
        <p:guide orient="horz" pos="1389"/>
        <p:guide pos="2479"/>
        <p:guide pos="5201"/>
        <p:guide orient="horz" pos="2886"/>
        <p:guide pos="619"/>
        <p:guide orient="horz" pos="618"/>
        <p:guide orient="horz" pos="3702"/>
        <p:guide pos="7061"/>
        <p:guide orient="horz" pos="125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viewProps" Target="view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notesMaster" Target="notesMasters/notesMaster1.xml"/><Relationship Id="rId85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tags" Target="tags/tag1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61" Type="http://schemas.openxmlformats.org/officeDocument/2006/relationships/slide" Target="slides/slide57.xml"/><Relationship Id="rId8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E29CD-DFFE-4B5B-8905-980ED44A5828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A5B5A-6157-4C6B-81CD-B2369B36DEB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83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721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496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893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739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127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065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8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847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994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961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5538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7992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9667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692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8287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38331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0763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78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03750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6706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7313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1409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7900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783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83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38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239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704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56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63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34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82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831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09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931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865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205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180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882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59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46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1591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368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24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032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1106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329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0913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9839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4152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5533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115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034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1979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4010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8141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0196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7837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4435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9948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0080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115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978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9204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0999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060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1642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65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85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68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51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18.03.2024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30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3BAA14-9C0F-4D1F-9B17-483C8E7EA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8FEE38D-D8FA-444B-97D1-1178CA8AA50A}"/>
              </a:ext>
            </a:extLst>
          </p:cNvPr>
          <p:cNvSpPr/>
          <p:nvPr/>
        </p:nvSpPr>
        <p:spPr>
          <a:xfrm>
            <a:off x="-19672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6FE7900-16B0-4943-81C0-E2A7A9CD937E}"/>
              </a:ext>
            </a:extLst>
          </p:cNvPr>
          <p:cNvSpPr txBox="1">
            <a:spLocks/>
          </p:cNvSpPr>
          <p:nvPr/>
        </p:nvSpPr>
        <p:spPr>
          <a:xfrm>
            <a:off x="983432" y="1429889"/>
            <a:ext cx="8424936" cy="149505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spc="100" dirty="0">
                <a:solidFill>
                  <a:srgbClr val="2469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7</a:t>
            </a:r>
            <a:r>
              <a:rPr lang="en-US" sz="4800" b="1" spc="100" dirty="0">
                <a:solidFill>
                  <a:srgbClr val="2469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 </a:t>
            </a:r>
            <a:r>
              <a:rPr lang="ru-RU" sz="4800" b="1" spc="100" dirty="0">
                <a:solidFill>
                  <a:srgbClr val="2469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Принцип максимального правдоподобия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78132-2275-4C07-8C17-DD492C424319}"/>
              </a:ext>
            </a:extLst>
          </p:cNvPr>
          <p:cNvSpPr txBox="1"/>
          <p:nvPr/>
        </p:nvSpPr>
        <p:spPr>
          <a:xfrm>
            <a:off x="994695" y="3428999"/>
            <a:ext cx="7261894" cy="50405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Общий принцип построения оценок.</a:t>
            </a:r>
          </a:p>
        </p:txBody>
      </p:sp>
    </p:spTree>
    <p:extLst>
      <p:ext uri="{BB962C8B-B14F-4D97-AF65-F5344CB8AC3E}">
        <p14:creationId xmlns:p14="http://schemas.microsoft.com/office/powerpoint/2010/main" val="155575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Оценка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12A56A-AF90-40CF-B2B1-061BC57DD562}"/>
              </a:ext>
            </a:extLst>
          </p:cNvPr>
          <p:cNvSpPr txBox="1"/>
          <p:nvPr/>
        </p:nvSpPr>
        <p:spPr>
          <a:xfrm>
            <a:off x="984184" y="2215374"/>
            <a:ext cx="10225153" cy="3085834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На предыдущих занятиях мы легко и непринуждённо построили оценки для различных параметров.</a:t>
            </a:r>
          </a:p>
        </p:txBody>
      </p:sp>
    </p:spTree>
    <p:extLst>
      <p:ext uri="{BB962C8B-B14F-4D97-AF65-F5344CB8AC3E}">
        <p14:creationId xmlns:p14="http://schemas.microsoft.com/office/powerpoint/2010/main" val="360599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4994" y="222119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Почему?</a:t>
            </a:r>
          </a:p>
        </p:txBody>
      </p:sp>
    </p:spTree>
    <p:extLst>
      <p:ext uri="{BB962C8B-B14F-4D97-AF65-F5344CB8AC3E}">
        <p14:creationId xmlns:p14="http://schemas.microsoft.com/office/powerpoint/2010/main" val="4028320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Оценка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12A56A-AF90-40CF-B2B1-061BC57DD562}"/>
              </a:ext>
            </a:extLst>
          </p:cNvPr>
          <p:cNvSpPr txBox="1"/>
          <p:nvPr/>
        </p:nvSpPr>
        <p:spPr>
          <a:xfrm>
            <a:off x="984184" y="2215374"/>
            <a:ext cx="10225153" cy="3085834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Эти параметры имели естественный выборочный аналог: математическое ожидание – среднее значение по выборке, вероятность – относительную частоту.</a:t>
            </a:r>
          </a:p>
          <a:p>
            <a:r>
              <a:rPr lang="ru-RU" dirty="0"/>
              <a:t>Что делать, если такого аналога не существует?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0326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Оценка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12A56A-AF90-40CF-B2B1-061BC57DD562}"/>
              </a:ext>
            </a:extLst>
          </p:cNvPr>
          <p:cNvSpPr txBox="1"/>
          <p:nvPr/>
        </p:nvSpPr>
        <p:spPr>
          <a:xfrm>
            <a:off x="984184" y="2215374"/>
            <a:ext cx="10225153" cy="3085834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На этом занятии мы введём общий принцип построения оценок – </a:t>
            </a:r>
            <a:r>
              <a:rPr lang="ru-RU" dirty="0">
                <a:solidFill>
                  <a:srgbClr val="246AF3"/>
                </a:solidFill>
              </a:rPr>
              <a:t>принцип максимального правдоподобия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529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4994" y="222119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Беременность и курение</a:t>
            </a:r>
          </a:p>
        </p:txBody>
      </p:sp>
    </p:spTree>
    <p:extLst>
      <p:ext uri="{BB962C8B-B14F-4D97-AF65-F5344CB8AC3E}">
        <p14:creationId xmlns:p14="http://schemas.microsoft.com/office/powerpoint/2010/main" val="1151911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Оценка параметра </a:t>
                </a:r>
                <a14:m>
                  <m:oMath xmlns:m="http://schemas.openxmlformats.org/officeDocument/2006/math">
                    <m:r>
                      <a:rPr lang="en-US" sz="4000" b="0" i="1" spc="10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26415" b="-39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512A56A-AF90-40CF-B2B1-061BC57DD562}"/>
              </a:ext>
            </a:extLst>
          </p:cNvPr>
          <p:cNvSpPr txBox="1"/>
          <p:nvPr/>
        </p:nvSpPr>
        <p:spPr>
          <a:xfrm>
            <a:off x="984184" y="2215374"/>
            <a:ext cx="10225153" cy="1429650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Исследовались 100 курящих женщин. Для 7 курильщиц точное количество циклов до наступления беременности было неизвестно.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DE6B4DC6-027D-4AF3-99F5-A6E845549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146431"/>
              </p:ext>
            </p:extLst>
          </p:nvPr>
        </p:nvGraphicFramePr>
        <p:xfrm>
          <a:off x="982663" y="3573016"/>
          <a:ext cx="10225155" cy="1584176"/>
        </p:xfrm>
        <a:graphic>
          <a:graphicData uri="http://schemas.openxmlformats.org/drawingml/2006/table">
            <a:tbl>
              <a:tblPr firstRow="1" firstCol="1" bandRow="1"/>
              <a:tblGrid>
                <a:gridCol w="1104074">
                  <a:extLst>
                    <a:ext uri="{9D8B030D-6E8A-4147-A177-3AD203B41FA5}">
                      <a16:colId xmlns:a16="http://schemas.microsoft.com/office/drawing/2014/main" val="2615855470"/>
                    </a:ext>
                  </a:extLst>
                </a:gridCol>
                <a:gridCol w="672810">
                  <a:extLst>
                    <a:ext uri="{9D8B030D-6E8A-4147-A177-3AD203B41FA5}">
                      <a16:colId xmlns:a16="http://schemas.microsoft.com/office/drawing/2014/main" val="851627920"/>
                    </a:ext>
                  </a:extLst>
                </a:gridCol>
                <a:gridCol w="767669">
                  <a:extLst>
                    <a:ext uri="{9D8B030D-6E8A-4147-A177-3AD203B41FA5}">
                      <a16:colId xmlns:a16="http://schemas.microsoft.com/office/drawing/2014/main" val="4263981533"/>
                    </a:ext>
                  </a:extLst>
                </a:gridCol>
                <a:gridCol w="767669">
                  <a:extLst>
                    <a:ext uri="{9D8B030D-6E8A-4147-A177-3AD203B41FA5}">
                      <a16:colId xmlns:a16="http://schemas.microsoft.com/office/drawing/2014/main" val="886913184"/>
                    </a:ext>
                  </a:extLst>
                </a:gridCol>
                <a:gridCol w="767669">
                  <a:extLst>
                    <a:ext uri="{9D8B030D-6E8A-4147-A177-3AD203B41FA5}">
                      <a16:colId xmlns:a16="http://schemas.microsoft.com/office/drawing/2014/main" val="1889744723"/>
                    </a:ext>
                  </a:extLst>
                </a:gridCol>
                <a:gridCol w="767669">
                  <a:extLst>
                    <a:ext uri="{9D8B030D-6E8A-4147-A177-3AD203B41FA5}">
                      <a16:colId xmlns:a16="http://schemas.microsoft.com/office/drawing/2014/main" val="3532094338"/>
                    </a:ext>
                  </a:extLst>
                </a:gridCol>
                <a:gridCol w="767669">
                  <a:extLst>
                    <a:ext uri="{9D8B030D-6E8A-4147-A177-3AD203B41FA5}">
                      <a16:colId xmlns:a16="http://schemas.microsoft.com/office/drawing/2014/main" val="66084473"/>
                    </a:ext>
                  </a:extLst>
                </a:gridCol>
                <a:gridCol w="767669">
                  <a:extLst>
                    <a:ext uri="{9D8B030D-6E8A-4147-A177-3AD203B41FA5}">
                      <a16:colId xmlns:a16="http://schemas.microsoft.com/office/drawing/2014/main" val="3688235272"/>
                    </a:ext>
                  </a:extLst>
                </a:gridCol>
                <a:gridCol w="767669">
                  <a:extLst>
                    <a:ext uri="{9D8B030D-6E8A-4147-A177-3AD203B41FA5}">
                      <a16:colId xmlns:a16="http://schemas.microsoft.com/office/drawing/2014/main" val="2576413303"/>
                    </a:ext>
                  </a:extLst>
                </a:gridCol>
                <a:gridCol w="768647">
                  <a:extLst>
                    <a:ext uri="{9D8B030D-6E8A-4147-A177-3AD203B41FA5}">
                      <a16:colId xmlns:a16="http://schemas.microsoft.com/office/drawing/2014/main" val="4049401129"/>
                    </a:ext>
                  </a:extLst>
                </a:gridCol>
                <a:gridCol w="768647">
                  <a:extLst>
                    <a:ext uri="{9D8B030D-6E8A-4147-A177-3AD203B41FA5}">
                      <a16:colId xmlns:a16="http://schemas.microsoft.com/office/drawing/2014/main" val="1551707612"/>
                    </a:ext>
                  </a:extLst>
                </a:gridCol>
                <a:gridCol w="768647">
                  <a:extLst>
                    <a:ext uri="{9D8B030D-6E8A-4147-A177-3AD203B41FA5}">
                      <a16:colId xmlns:a16="http://schemas.microsoft.com/office/drawing/2014/main" val="2087340444"/>
                    </a:ext>
                  </a:extLst>
                </a:gridCol>
                <a:gridCol w="768647">
                  <a:extLst>
                    <a:ext uri="{9D8B030D-6E8A-4147-A177-3AD203B41FA5}">
                      <a16:colId xmlns:a16="http://schemas.microsoft.com/office/drawing/2014/main" val="1997624081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Циклы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152415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Кол-во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29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768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915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Оценка параметра </a:t>
                </a:r>
                <a14:m>
                  <m:oMath xmlns:m="http://schemas.openxmlformats.org/officeDocument/2006/math">
                    <m:r>
                      <a:rPr lang="en-US" sz="4000" b="0" i="1" spc="10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26415" b="-39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512A56A-AF90-40CF-B2B1-061BC57DD562}"/>
              </a:ext>
            </a:extLst>
          </p:cNvPr>
          <p:cNvSpPr txBox="1"/>
          <p:nvPr/>
        </p:nvSpPr>
        <p:spPr>
          <a:xfrm>
            <a:off x="984184" y="2215374"/>
            <a:ext cx="10225153" cy="1429650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Исследовались 486 некурящих женщин. Для 12 некурящих точное количество циклов до наступления беременности было неизвестно.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CE7E309-8EFC-4CA4-8408-75CE6AA5F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553820"/>
              </p:ext>
            </p:extLst>
          </p:nvPr>
        </p:nvGraphicFramePr>
        <p:xfrm>
          <a:off x="981143" y="3573016"/>
          <a:ext cx="10226673" cy="1581726"/>
        </p:xfrm>
        <a:graphic>
          <a:graphicData uri="http://schemas.openxmlformats.org/drawingml/2006/table">
            <a:tbl>
              <a:tblPr firstRow="1" firstCol="1" bandRow="1"/>
              <a:tblGrid>
                <a:gridCol w="1104238">
                  <a:extLst>
                    <a:ext uri="{9D8B030D-6E8A-4147-A177-3AD203B41FA5}">
                      <a16:colId xmlns:a16="http://schemas.microsoft.com/office/drawing/2014/main" val="3991003228"/>
                    </a:ext>
                  </a:extLst>
                </a:gridCol>
                <a:gridCol w="672910">
                  <a:extLst>
                    <a:ext uri="{9D8B030D-6E8A-4147-A177-3AD203B41FA5}">
                      <a16:colId xmlns:a16="http://schemas.microsoft.com/office/drawing/2014/main" val="3046529022"/>
                    </a:ext>
                  </a:extLst>
                </a:gridCol>
                <a:gridCol w="767783">
                  <a:extLst>
                    <a:ext uri="{9D8B030D-6E8A-4147-A177-3AD203B41FA5}">
                      <a16:colId xmlns:a16="http://schemas.microsoft.com/office/drawing/2014/main" val="1067553373"/>
                    </a:ext>
                  </a:extLst>
                </a:gridCol>
                <a:gridCol w="767783">
                  <a:extLst>
                    <a:ext uri="{9D8B030D-6E8A-4147-A177-3AD203B41FA5}">
                      <a16:colId xmlns:a16="http://schemas.microsoft.com/office/drawing/2014/main" val="404094444"/>
                    </a:ext>
                  </a:extLst>
                </a:gridCol>
                <a:gridCol w="767783">
                  <a:extLst>
                    <a:ext uri="{9D8B030D-6E8A-4147-A177-3AD203B41FA5}">
                      <a16:colId xmlns:a16="http://schemas.microsoft.com/office/drawing/2014/main" val="345026434"/>
                    </a:ext>
                  </a:extLst>
                </a:gridCol>
                <a:gridCol w="767783">
                  <a:extLst>
                    <a:ext uri="{9D8B030D-6E8A-4147-A177-3AD203B41FA5}">
                      <a16:colId xmlns:a16="http://schemas.microsoft.com/office/drawing/2014/main" val="245635537"/>
                    </a:ext>
                  </a:extLst>
                </a:gridCol>
                <a:gridCol w="767783">
                  <a:extLst>
                    <a:ext uri="{9D8B030D-6E8A-4147-A177-3AD203B41FA5}">
                      <a16:colId xmlns:a16="http://schemas.microsoft.com/office/drawing/2014/main" val="3302913409"/>
                    </a:ext>
                  </a:extLst>
                </a:gridCol>
                <a:gridCol w="767783">
                  <a:extLst>
                    <a:ext uri="{9D8B030D-6E8A-4147-A177-3AD203B41FA5}">
                      <a16:colId xmlns:a16="http://schemas.microsoft.com/office/drawing/2014/main" val="1697205689"/>
                    </a:ext>
                  </a:extLst>
                </a:gridCol>
                <a:gridCol w="767783">
                  <a:extLst>
                    <a:ext uri="{9D8B030D-6E8A-4147-A177-3AD203B41FA5}">
                      <a16:colId xmlns:a16="http://schemas.microsoft.com/office/drawing/2014/main" val="3283035377"/>
                    </a:ext>
                  </a:extLst>
                </a:gridCol>
                <a:gridCol w="768761">
                  <a:extLst>
                    <a:ext uri="{9D8B030D-6E8A-4147-A177-3AD203B41FA5}">
                      <a16:colId xmlns:a16="http://schemas.microsoft.com/office/drawing/2014/main" val="1107902318"/>
                    </a:ext>
                  </a:extLst>
                </a:gridCol>
                <a:gridCol w="768761">
                  <a:extLst>
                    <a:ext uri="{9D8B030D-6E8A-4147-A177-3AD203B41FA5}">
                      <a16:colId xmlns:a16="http://schemas.microsoft.com/office/drawing/2014/main" val="2434252667"/>
                    </a:ext>
                  </a:extLst>
                </a:gridCol>
                <a:gridCol w="768761">
                  <a:extLst>
                    <a:ext uri="{9D8B030D-6E8A-4147-A177-3AD203B41FA5}">
                      <a16:colId xmlns:a16="http://schemas.microsoft.com/office/drawing/2014/main" val="1175921229"/>
                    </a:ext>
                  </a:extLst>
                </a:gridCol>
                <a:gridCol w="768761">
                  <a:extLst>
                    <a:ext uri="{9D8B030D-6E8A-4147-A177-3AD203B41FA5}">
                      <a16:colId xmlns:a16="http://schemas.microsoft.com/office/drawing/2014/main" val="2878157599"/>
                    </a:ext>
                  </a:extLst>
                </a:gridCol>
              </a:tblGrid>
              <a:tr h="79086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Циклы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28378"/>
                  </a:ext>
                </a:extLst>
              </a:tr>
              <a:tr h="79086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Кол-во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198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107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55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38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18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22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322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3348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Задача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dirty="0"/>
                  <a:t>Отличается ли параметр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, который равен вероятности забеременеть после одного цикла, для курящих</a:t>
                </a:r>
                <a:br>
                  <a:rPr lang="ru-RU" dirty="0"/>
                </a:br>
                <a:r>
                  <a:rPr lang="ru-RU" dirty="0"/>
                  <a:t>и некурящих? </a:t>
                </a:r>
              </a:p>
              <a:p>
                <a:r>
                  <a:rPr lang="ru-RU" dirty="0"/>
                  <a:t>Как можно оценить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?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  <a:blipFill>
                <a:blip r:embed="rId3"/>
                <a:stretch>
                  <a:fillRect l="-1192" t="-33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096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Оценка параметра </a:t>
                </a:r>
                <a14:m>
                  <m:oMath xmlns:m="http://schemas.openxmlformats.org/officeDocument/2006/math">
                    <m:r>
                      <a:rPr lang="en-US" sz="4000" b="0" i="1" spc="10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26415" b="-39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87792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Поскольку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то разумно использовать в качестве оценки для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количество 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, равных 1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Это подтверждает закон больших чисел.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877922"/>
              </a:xfrm>
              <a:prstGeom prst="rect">
                <a:avLst/>
              </a:prstGeom>
              <a:blipFill>
                <a:blip r:embed="rId4"/>
                <a:stretch>
                  <a:fillRect l="-1192" t="-1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76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Оценка параметра </a:t>
                </a:r>
                <a14:m>
                  <m:oMath xmlns:m="http://schemas.openxmlformats.org/officeDocument/2006/math">
                    <m:r>
                      <a:rPr lang="en-US" sz="4000" b="0" i="1" spc="10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26415" b="-39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Это дает оценки параметра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для курящих и для некурящих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b="0" i="0" smtClean="0">
                              <a:latin typeface="Cambria Math" panose="02040503050406030204" pitchFamily="18" charset="0"/>
                            </a:rPr>
                            <m:t>к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29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</a:rPr>
                        <m:t>=0.29</m:t>
                      </m:r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н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198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486</m:t>
                          </m:r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</a:rPr>
                        <m:t>=0.41</m:t>
                      </m:r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Оценка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/>
                  <a:t> является несмещенной оценкой для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  <a:blipFill>
                <a:blip r:embed="rId4"/>
                <a:stretch>
                  <a:fillRect l="-1192" t="-21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7753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Оценка параметра </a:t>
                </a:r>
                <a14:m>
                  <m:oMath xmlns:m="http://schemas.openxmlformats.org/officeDocument/2006/math">
                    <m:r>
                      <a:rPr lang="en-US" sz="4000" b="0" i="1" spc="10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26415" b="-39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Есть ощущение, что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/>
                  <a:t> является «плохой» оценкой, т.к.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/>
                  <a:t> не использует всю информацию в таблице.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Оценивая так, мы игнорируем распределение женщин</a:t>
                </a:r>
                <a:br>
                  <a:rPr lang="ru-RU" dirty="0"/>
                </a:br>
                <a:r>
                  <a:rPr lang="ru-RU" dirty="0"/>
                  <a:t>по числам 2, 3, . . . наблюдаемых циклов</a:t>
                </a:r>
                <a:r>
                  <a:rPr lang="ru-RU" sz="2900" dirty="0"/>
                  <a:t>. </a:t>
                </a:r>
                <a:endParaRPr lang="en-US" sz="29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  <a:blipFill>
                <a:blip r:embed="rId4"/>
                <a:stretch>
                  <a:fillRect l="-1192" t="-2170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299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Оценка параметра </a:t>
                </a:r>
                <a14:m>
                  <m:oMath xmlns:m="http://schemas.openxmlformats.org/officeDocument/2006/math">
                    <m:r>
                      <a:rPr lang="en-US" sz="4000" b="0" i="1" spc="10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26415" b="-39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3"/>
                <a:ext cx="10225153" cy="366155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Есть ощущение, что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/>
                  <a:t> является «плохой» оценкой, т.к.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/>
                  <a:t> не использует всю информацию в таблице.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Оценивая так, мы игнорируем распределение женщин</a:t>
                </a:r>
                <a:br>
                  <a:rPr lang="ru-RU" dirty="0"/>
                </a:br>
                <a:r>
                  <a:rPr lang="ru-RU" dirty="0"/>
                  <a:t>по числам 2, 3, . . . наблюдаемых циклов</a:t>
                </a:r>
                <a:r>
                  <a:rPr lang="ru-RU" sz="2900" dirty="0"/>
                  <a:t>. 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900" dirty="0"/>
                  <a:t>Хотелось бы иметь оценку, которая включала</a:t>
                </a:r>
                <a:br>
                  <a:rPr lang="ru-RU" sz="2900" dirty="0"/>
                </a:br>
                <a:r>
                  <a:rPr lang="ru-RU" sz="2900" dirty="0"/>
                  <a:t>бы всю доступную информацию.</a:t>
                </a:r>
                <a:endParaRPr lang="en-US" sz="29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3"/>
                <a:ext cx="10225153" cy="3661551"/>
              </a:xfrm>
              <a:prstGeom prst="rect">
                <a:avLst/>
              </a:prstGeom>
              <a:blipFill>
                <a:blip r:embed="rId4"/>
                <a:stretch>
                  <a:fillRect l="-1251" t="-1830" r="-12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3854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Оценка параметра </a:t>
                </a:r>
                <a14:m>
                  <m:oMath xmlns:m="http://schemas.openxmlformats.org/officeDocument/2006/math">
                    <m:r>
                      <a:rPr lang="en-US" sz="4000" b="0" i="1" spc="10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26415" b="-39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512A56A-AF90-40CF-B2B1-061BC57DD562}"/>
              </a:ext>
            </a:extLst>
          </p:cNvPr>
          <p:cNvSpPr txBox="1"/>
          <p:nvPr/>
        </p:nvSpPr>
        <p:spPr>
          <a:xfrm>
            <a:off x="984184" y="2215374"/>
            <a:ext cx="10225153" cy="3085834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dirty="0"/>
              <a:t>Из-за способа представления данных это представляется сложным.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dirty="0"/>
              <a:t>Например, оценки, основанные на среднем значении, не могут быть использованы, поскольку</a:t>
            </a:r>
            <a:br>
              <a:rPr lang="ru-RU" dirty="0"/>
            </a:br>
            <a:r>
              <a:rPr lang="ru-RU" dirty="0"/>
              <a:t> у 7 курильщиц и 12 некурящих было неизвестное количество циклов до беременности (их больше 12).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872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Оценка параметра </a:t>
                </a:r>
                <a14:m>
                  <m:oMath xmlns:m="http://schemas.openxmlformats.org/officeDocument/2006/math">
                    <m:r>
                      <a:rPr lang="en-US" sz="4000" b="0" i="1" spc="10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26415" b="-39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80591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Можно проигнорировать последний столбец в таблице, вычислить среднее значение и получить оценки </a:t>
                </a:r>
                <a14:m>
                  <m:oMath xmlns:m="http://schemas.openxmlformats.org/officeDocument/2006/math">
                    <m:r>
                      <a:rPr lang="ru-RU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для курильщиков и для некурящих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93</m:t>
                              </m:r>
                            </m:sub>
                          </m:sSub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</a:rPr>
                        <m:t>=0.2809</m:t>
                      </m:r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474</m:t>
                              </m:r>
                            </m:sub>
                          </m:sSub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</a:rPr>
                        <m:t>=0.3688</m:t>
                      </m:r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805914"/>
              </a:xfrm>
              <a:prstGeom prst="rect">
                <a:avLst/>
              </a:prstGeom>
              <a:blipFill>
                <a:blip r:embed="rId4"/>
                <a:stretch>
                  <a:fillRect l="-1192" t="-1760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4202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Оценка параметра </a:t>
                </a:r>
                <a14:m>
                  <m:oMath xmlns:m="http://schemas.openxmlformats.org/officeDocument/2006/math">
                    <m:r>
                      <a:rPr lang="en-US" sz="4000" b="0" i="1" spc="10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26415" b="-39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Однако, поскольку мы отбрасываем семь значений, превышающих 12, в случае курильщиков и двенадцать значений, превышающих 12, в случае некурящих, мы переоцениваем значение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в обоих случаях.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3085834"/>
              </a:xfrm>
              <a:prstGeom prst="rect">
                <a:avLst/>
              </a:prstGeom>
              <a:blipFill>
                <a:blip r:embed="rId4"/>
                <a:stretch>
                  <a:fillRect l="-1192" t="-2170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462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Оценка параметра </a:t>
                </a:r>
                <a14:m>
                  <m:oMath xmlns:m="http://schemas.openxmlformats.org/officeDocument/2006/math">
                    <m:r>
                      <a:rPr lang="en-US" sz="4000" b="0" i="1" spc="10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𝑝</m:t>
                    </m:r>
                  </m:oMath>
                </a14:m>
                <a:endParaRPr lang="ru-RU" sz="4000" spc="100" dirty="0">
                  <a:solidFill>
                    <a:srgbClr val="246AF3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52" y="1340768"/>
                <a:ext cx="10221538" cy="646331"/>
              </a:xfrm>
              <a:prstGeom prst="rect">
                <a:avLst/>
              </a:prstGeom>
              <a:blipFill>
                <a:blip r:embed="rId3"/>
                <a:stretch>
                  <a:fillRect l="-2087" t="-26415" b="-39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512A56A-AF90-40CF-B2B1-061BC57DD562}"/>
              </a:ext>
            </a:extLst>
          </p:cNvPr>
          <p:cNvSpPr txBox="1"/>
          <p:nvPr/>
        </p:nvSpPr>
        <p:spPr>
          <a:xfrm>
            <a:off x="984184" y="2215374"/>
            <a:ext cx="10225153" cy="3085834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dirty="0"/>
              <a:t>Таким образом, нам нужен общий принцип нахождения оценок для интересующего параметра.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dirty="0"/>
              <a:t>Этот принцип должен давать хорошие, качественные оценки и использовать максимально имеющую информацию.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406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4994" y="2221198"/>
            <a:ext cx="10221538" cy="1567842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Принцип максимального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правдоподобия</a:t>
            </a:r>
          </a:p>
        </p:txBody>
      </p:sp>
    </p:spTree>
    <p:extLst>
      <p:ext uri="{BB962C8B-B14F-4D97-AF65-F5344CB8AC3E}">
        <p14:creationId xmlns:p14="http://schemas.microsoft.com/office/powerpoint/2010/main" val="38002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Параллельный импорт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694" y="1994484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Дилеру компьютерных чипов предлагают на черном рынке две партии по 10 000 чипов каждая.</a:t>
            </a:r>
            <a:br>
              <a:rPr lang="ru-RU" dirty="0"/>
            </a:br>
            <a:r>
              <a:rPr lang="ru-RU" dirty="0"/>
              <a:t>По словам продавца, в одной партии около 50% чипов бракованные, в то время как в другой партии этот процент составляет около 10%. </a:t>
            </a:r>
          </a:p>
        </p:txBody>
      </p:sp>
    </p:spTree>
    <p:extLst>
      <p:ext uri="{BB962C8B-B14F-4D97-AF65-F5344CB8AC3E}">
        <p14:creationId xmlns:p14="http://schemas.microsoft.com/office/powerpoint/2010/main" val="3981790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Параллельный импорт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694" y="1994484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Нашего дилера интересует партия в которой брака 10%. </a:t>
            </a:r>
          </a:p>
          <a:p>
            <a:r>
              <a:rPr lang="ru-RU" dirty="0"/>
              <a:t>К сожалению, продавец не может отличить две партии</a:t>
            </a:r>
            <a:br>
              <a:rPr lang="ru-RU" dirty="0"/>
            </a:br>
            <a:r>
              <a:rPr lang="ru-RU" dirty="0"/>
              <a:t>друг от друга.</a:t>
            </a:r>
          </a:p>
        </p:txBody>
      </p:sp>
    </p:spTree>
    <p:extLst>
      <p:ext uri="{BB962C8B-B14F-4D97-AF65-F5344CB8AC3E}">
        <p14:creationId xmlns:p14="http://schemas.microsoft.com/office/powerpoint/2010/main" val="1480618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Параллельный импорт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694" y="1994484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Чтобы помочь ему определиться, продавец предлагает нашему дилеру одну партию, из которой ему разрешается выбрать и протестировать 10 чипсов.</a:t>
            </a:r>
          </a:p>
          <a:p>
            <a:r>
              <a:rPr lang="ru-RU" dirty="0"/>
              <a:t>После произвольного выбора 10 микросхем выясняется,</a:t>
            </a:r>
          </a:p>
          <a:p>
            <a:r>
              <a:rPr lang="ru-RU" dirty="0"/>
              <a:t>что неисправна только вторая.</a:t>
            </a:r>
          </a:p>
          <a:p>
            <a:r>
              <a:rPr lang="ru-RU" dirty="0"/>
              <a:t>Наш дилер сразу же решает купить эту партию. </a:t>
            </a:r>
          </a:p>
        </p:txBody>
      </p:sp>
    </p:spTree>
    <p:extLst>
      <p:ext uri="{BB962C8B-B14F-4D97-AF65-F5344CB8AC3E}">
        <p14:creationId xmlns:p14="http://schemas.microsoft.com/office/powerpoint/2010/main" val="627293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4994" y="2221198"/>
            <a:ext cx="10221538" cy="1567842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Мудрое ли это решение?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ru-RU" sz="4000" spc="100" dirty="0">
              <a:solidFill>
                <a:srgbClr val="246AF3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132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Параллельный импорт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694" y="1994484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В партии, где 50% чипов бракованные, более вероятно появление бракованных чипов, в то время как в другой партии вряд ли можно ожидать появления бракованных чипов.</a:t>
            </a:r>
          </a:p>
        </p:txBody>
      </p:sp>
    </p:spTree>
    <p:extLst>
      <p:ext uri="{BB962C8B-B14F-4D97-AF65-F5344CB8AC3E}">
        <p14:creationId xmlns:p14="http://schemas.microsoft.com/office/powerpoint/2010/main" val="1126246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Параллельный импорт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694" y="1994484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Очевидно, что наш дилер выбирает партию, для которой наиболее вероятно, что неисправен только один чип.</a:t>
            </a:r>
          </a:p>
          <a:p>
            <a:r>
              <a:rPr lang="ru-RU" dirty="0"/>
              <a:t>Это основная идея, лежащая в основе принципа максимального правдоподобия.</a:t>
            </a:r>
          </a:p>
        </p:txBody>
      </p:sp>
    </p:spTree>
    <p:extLst>
      <p:ext uri="{BB962C8B-B14F-4D97-AF65-F5344CB8AC3E}">
        <p14:creationId xmlns:p14="http://schemas.microsoft.com/office/powerpoint/2010/main" val="1457583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Принцип максимального правдоподобия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694" y="1994484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spcAft>
                <a:spcPts val="800"/>
              </a:spcAft>
            </a:pPr>
            <a:r>
              <a:rPr lang="ru-RU" dirty="0"/>
              <a:t>Для имеющегося набора данных, выбираем интересующий нас параметр таким образом, чтобы имеющиеся данные были наиболее вероятными.</a:t>
            </a:r>
          </a:p>
        </p:txBody>
      </p:sp>
    </p:spTree>
    <p:extLst>
      <p:ext uri="{BB962C8B-B14F-4D97-AF65-F5344CB8AC3E}">
        <p14:creationId xmlns:p14="http://schemas.microsoft.com/office/powerpoint/2010/main" val="1620951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Параллельный импорт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– вероятность того, что случайно выбранный чип неисправен. Тогда, 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dirty="0"/>
                  <a:t>,</a:t>
                </a:r>
                <a:r>
                  <a:rPr lang="ru-RU" dirty="0"/>
                  <a:t> то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=0.039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Для другой партии</a:t>
                </a:r>
                <a:endParaRPr lang="en-US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=0.00098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27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6226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Параллельный импорт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0.039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0.00098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Вероятность для партии, в которой дефектных чипов всего 10%, примерно в 40 раз больше, чем для другой партии. Учитывая полученные данные, дилер принял</a:t>
                </a:r>
                <a:br>
                  <a:rPr lang="ru-RU" dirty="0"/>
                </a:br>
                <a:r>
                  <a:rPr lang="ru-RU" dirty="0"/>
                  <a:t>правильное решение.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42506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4994" y="222119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Беременность и курение</a:t>
            </a:r>
          </a:p>
        </p:txBody>
      </p:sp>
    </p:spTree>
    <p:extLst>
      <p:ext uri="{BB962C8B-B14F-4D97-AF65-F5344CB8AC3E}">
        <p14:creationId xmlns:p14="http://schemas.microsoft.com/office/powerpoint/2010/main" val="2638831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Максимальное правдоподобие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Обозначим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– количество циклов до наступления беременности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dirty="0"/>
                  <a:t>−й курильщицы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ru-RU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&gt;12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нет </m:t>
                          </m:r>
                          <m:r>
                            <a:rPr lang="ru-RU" b="0" i="0" smtClean="0">
                              <a:latin typeface="Cambria Math" panose="02040503050406030204" pitchFamily="18" charset="0"/>
                            </a:rPr>
                            <m:t>результата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 в цикле от 1 до 12</m:t>
                          </m:r>
                        </m:e>
                      </m:d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8576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8552" y="1340768"/>
            <a:ext cx="10221538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Максимальное правдоподобие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/>
              <p:nvPr/>
            </p:nvSpPr>
            <p:spPr>
              <a:xfrm>
                <a:off x="984184" y="2215374"/>
                <a:ext cx="10225153" cy="14296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dirty="0"/>
                  <a:t>Есть 29 курильщиков, для которых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dirty="0"/>
                  <a:t>, и есть 16, для которых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ru-RU" dirty="0"/>
                  <a:t> и т.д.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12A56A-AF90-40CF-B2B1-061BC57D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84" y="2215374"/>
                <a:ext cx="10225153" cy="1429650"/>
              </a:xfrm>
              <a:prstGeom prst="rect">
                <a:avLst/>
              </a:prstGeom>
              <a:blipFill>
                <a:blip r:embed="rId3"/>
                <a:stretch>
                  <a:fillRect l="-1192" t="-72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DE6B4DC6-027D-4AF3-99F5-A6E845549DDA}"/>
              </a:ext>
            </a:extLst>
          </p:cNvPr>
          <p:cNvGraphicFramePr>
            <a:graphicFrameLocks noGrp="1"/>
          </p:cNvGraphicFramePr>
          <p:nvPr/>
        </p:nvGraphicFramePr>
        <p:xfrm>
          <a:off x="982663" y="3573016"/>
          <a:ext cx="10225155" cy="1584176"/>
        </p:xfrm>
        <a:graphic>
          <a:graphicData uri="http://schemas.openxmlformats.org/drawingml/2006/table">
            <a:tbl>
              <a:tblPr firstRow="1" firstCol="1" bandRow="1"/>
              <a:tblGrid>
                <a:gridCol w="1104074">
                  <a:extLst>
                    <a:ext uri="{9D8B030D-6E8A-4147-A177-3AD203B41FA5}">
                      <a16:colId xmlns:a16="http://schemas.microsoft.com/office/drawing/2014/main" val="2615855470"/>
                    </a:ext>
                  </a:extLst>
                </a:gridCol>
                <a:gridCol w="672810">
                  <a:extLst>
                    <a:ext uri="{9D8B030D-6E8A-4147-A177-3AD203B41FA5}">
                      <a16:colId xmlns:a16="http://schemas.microsoft.com/office/drawing/2014/main" val="851627920"/>
                    </a:ext>
                  </a:extLst>
                </a:gridCol>
                <a:gridCol w="767669">
                  <a:extLst>
                    <a:ext uri="{9D8B030D-6E8A-4147-A177-3AD203B41FA5}">
                      <a16:colId xmlns:a16="http://schemas.microsoft.com/office/drawing/2014/main" val="4263981533"/>
                    </a:ext>
                  </a:extLst>
                </a:gridCol>
                <a:gridCol w="767669">
                  <a:extLst>
                    <a:ext uri="{9D8B030D-6E8A-4147-A177-3AD203B41FA5}">
                      <a16:colId xmlns:a16="http://schemas.microsoft.com/office/drawing/2014/main" val="886913184"/>
                    </a:ext>
                  </a:extLst>
                </a:gridCol>
                <a:gridCol w="767669">
                  <a:extLst>
                    <a:ext uri="{9D8B030D-6E8A-4147-A177-3AD203B41FA5}">
                      <a16:colId xmlns:a16="http://schemas.microsoft.com/office/drawing/2014/main" val="1889744723"/>
                    </a:ext>
                  </a:extLst>
                </a:gridCol>
                <a:gridCol w="767669">
                  <a:extLst>
                    <a:ext uri="{9D8B030D-6E8A-4147-A177-3AD203B41FA5}">
                      <a16:colId xmlns:a16="http://schemas.microsoft.com/office/drawing/2014/main" val="3532094338"/>
                    </a:ext>
                  </a:extLst>
                </a:gridCol>
                <a:gridCol w="767669">
                  <a:extLst>
                    <a:ext uri="{9D8B030D-6E8A-4147-A177-3AD203B41FA5}">
                      <a16:colId xmlns:a16="http://schemas.microsoft.com/office/drawing/2014/main" val="66084473"/>
                    </a:ext>
                  </a:extLst>
                </a:gridCol>
                <a:gridCol w="767669">
                  <a:extLst>
                    <a:ext uri="{9D8B030D-6E8A-4147-A177-3AD203B41FA5}">
                      <a16:colId xmlns:a16="http://schemas.microsoft.com/office/drawing/2014/main" val="3688235272"/>
                    </a:ext>
                  </a:extLst>
                </a:gridCol>
                <a:gridCol w="767669">
                  <a:extLst>
                    <a:ext uri="{9D8B030D-6E8A-4147-A177-3AD203B41FA5}">
                      <a16:colId xmlns:a16="http://schemas.microsoft.com/office/drawing/2014/main" val="2576413303"/>
                    </a:ext>
                  </a:extLst>
                </a:gridCol>
                <a:gridCol w="768647">
                  <a:extLst>
                    <a:ext uri="{9D8B030D-6E8A-4147-A177-3AD203B41FA5}">
                      <a16:colId xmlns:a16="http://schemas.microsoft.com/office/drawing/2014/main" val="4049401129"/>
                    </a:ext>
                  </a:extLst>
                </a:gridCol>
                <a:gridCol w="768647">
                  <a:extLst>
                    <a:ext uri="{9D8B030D-6E8A-4147-A177-3AD203B41FA5}">
                      <a16:colId xmlns:a16="http://schemas.microsoft.com/office/drawing/2014/main" val="1551707612"/>
                    </a:ext>
                  </a:extLst>
                </a:gridCol>
                <a:gridCol w="768647">
                  <a:extLst>
                    <a:ext uri="{9D8B030D-6E8A-4147-A177-3AD203B41FA5}">
                      <a16:colId xmlns:a16="http://schemas.microsoft.com/office/drawing/2014/main" val="2087340444"/>
                    </a:ext>
                  </a:extLst>
                </a:gridCol>
                <a:gridCol w="768647">
                  <a:extLst>
                    <a:ext uri="{9D8B030D-6E8A-4147-A177-3AD203B41FA5}">
                      <a16:colId xmlns:a16="http://schemas.microsoft.com/office/drawing/2014/main" val="1997624081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Циклы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152415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Кол-во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29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768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121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Максимальное правдоподобие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Моделируем данные, как случайную выборку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из геометрического распределения. Вероятность данных – как функция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– определяется так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29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16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⋅…⋅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=12</m:t>
                              </m:r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&gt;12</m:t>
                              </m:r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29</m:t>
                          </m:r>
                        </m:sup>
                      </m:sSup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1 − 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16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⋅…⋅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p>
                              </m:sSup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93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322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25235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Максимальное правдоподобие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Здесь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/>
                  <a:t> – количество способов, выбора из 100 курильщиков 29 единиц, 16 двоек, ..., 3 </a:t>
                </a:r>
                <a:r>
                  <a:rPr lang="ru-RU" dirty="0" err="1"/>
                  <a:t>двенадцатки</a:t>
                </a:r>
                <a:r>
                  <a:rPr lang="ru-RU" dirty="0"/>
                  <a:t> и 7 чисел, превышающих 12. Легко посчитать, что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 dirty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𝐶</m:t>
                      </m:r>
                      <m:r>
                        <a:rPr lang="ru-RU" sz="1600" i="1" dirty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= 311657028822819441451842682167854800096263625208359116504431153487280760832000000000.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0463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Максимальное правдоподобие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Найдём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для которого функция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максимальна.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Дифференцируя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относительно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, получаем, что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(93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92</m:t>
                          </m:r>
                        </m:sup>
                      </m:sSup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322</m:t>
                          </m:r>
                        </m:sup>
                      </m:sSup>
                      <m:r>
                        <a:rPr lang="ru-RU">
                          <a:latin typeface="Cambria Math" panose="02040503050406030204" pitchFamily="18" charset="0"/>
                        </a:rPr>
                        <m:t>−322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93</m:t>
                          </m:r>
                        </m:sup>
                      </m:sSup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321</m:t>
                          </m:r>
                        </m:sup>
                      </m:sSup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92</m:t>
                          </m:r>
                        </m:sup>
                      </m:sSup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321</m:t>
                          </m:r>
                        </m:sup>
                      </m:sSup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93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−322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92</m:t>
                          </m:r>
                        </m:sup>
                      </m:sSup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321</m:t>
                          </m:r>
                        </m:sup>
                      </m:sSup>
                      <m:r>
                        <a:rPr lang="ru-RU">
                          <a:latin typeface="Cambria Math" panose="02040503050406030204" pitchFamily="18" charset="0"/>
                        </a:rPr>
                        <m:t>(93−415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0531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Максимальное правдоподобие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Найдём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для которого функция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максимальна.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Производную приравниваем нулю.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′(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dirty="0"/>
                  <a:t> или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=93/415=0.224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0.224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0.224</m:t>
                    </m:r>
                  </m:oMath>
                </a14:m>
                <a:r>
                  <a:rPr lang="ru-RU" dirty="0"/>
                  <a:t> – это оценка максимального правдоподобия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для курильщиков.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03542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4994" y="2221198"/>
            <a:ext cx="8567390" cy="214390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Принцип правдоподобия</a:t>
            </a:r>
            <a:b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</a:b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и логарифмического правдоподобия</a:t>
            </a:r>
          </a:p>
        </p:txBody>
      </p:sp>
    </p:spTree>
    <p:extLst>
      <p:ext uri="{BB962C8B-B14F-4D97-AF65-F5344CB8AC3E}">
        <p14:creationId xmlns:p14="http://schemas.microsoft.com/office/powerpoint/2010/main" val="23580253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Функция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Предположим, у нас есть набор данных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смоделированный как реализация случайной выборки из распределения, характеризуемого параметром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40117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Функция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Если есть выборка из дискретного распределения,  характеризуемого параметром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, то будем считать,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/>
                  <a:t> – функция вероятности.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6248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Функция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Если есть выборка из непрерывного распределения,  характеризуемого параметром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, то будем считать,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функция плотности вероятности.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84205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Функция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Для набора данных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, смоделированного как реализация случайной выборки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из дискретного распределения принцип максимального правдоподобия состоит в оценке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 по тому значению, для которого функция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заданная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является максимальной. 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99837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Функция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Это значение называется оценкой максимального правдоподобия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Функция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называется </a:t>
                </a:r>
                <a:r>
                  <a:rPr lang="ru-RU" dirty="0">
                    <a:solidFill>
                      <a:srgbClr val="246AF3"/>
                    </a:solidFill>
                  </a:rPr>
                  <a:t>функцией правдоподобия</a:t>
                </a:r>
                <a:r>
                  <a:rPr lang="ru-RU" dirty="0"/>
                  <a:t>.</a:t>
                </a:r>
                <a:endParaRPr lang="en-US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Это функция от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, определяемая числами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3704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Функция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Для непрерывного распределения функция правдоподобия определяется так.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ru-RU" dirty="0"/>
                  <a:t> – функция плотности вероятности от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, и пусть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ru-RU" dirty="0"/>
                  <a:t> – некоторое фиксированное малое число.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Выберем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 таким образом, чтобы вероятность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была максимальной.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 b="-14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9816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Функция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Поскольку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независимы, мы находим, что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≈≈ 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Мы использовали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  <m:sup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dx</m:t>
                          </m:r>
                        </m:e>
                      </m:nary>
                      <m:r>
                        <a:rPr lang="ru-RU">
                          <a:latin typeface="Cambria Math" panose="02040503050406030204" pitchFamily="18" charset="0"/>
                        </a:rPr>
                        <m:t>≈2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𝜀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b="-79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63905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Функция правдоподобия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Поскольку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независимы, мы находим, что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≈≈ 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Правая часть максимальна всякий раз, когда функция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ru-RU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 максимальна, независимо</a:t>
                </a:r>
                <a:br>
                  <a:rPr lang="ru-RU" dirty="0"/>
                </a:br>
                <a:r>
                  <a:rPr lang="ru-RU" dirty="0"/>
                  <a:t>от значения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/>
                  <a:t>. 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919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Функция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Для набора данных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, функция правдоподобия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определяется как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в непрерывном случае.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857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Функция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>
                    <a:solidFill>
                      <a:srgbClr val="246AF3"/>
                    </a:solidFill>
                  </a:rPr>
                  <a:t>Оценка максимального правдоподобия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 – это значение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которое максимизирует функцию правдоподобия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Соответствующая случайная величина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называется оценкой максимального правдоподобия для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78379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Экспоненциальное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У нас есть набор данных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, смоделированный как реализация случайной выборки из распределения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</a:t>
                </a:r>
                <a:br>
                  <a:rPr lang="ru-RU" dirty="0"/>
                </a:br>
                <a:r>
                  <a:rPr lang="ru-RU" dirty="0"/>
                  <a:t>с функцией плотности вероятности, заданной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ru-RU" dirty="0"/>
                  <a:t>, и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)=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ru-RU">
                        <a:latin typeface="Cambria Math" panose="02040503050406030204" pitchFamily="18" charset="0"/>
                      </a:rPr>
                      <m:t> для 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≥0.</m:t>
                    </m:r>
                  </m:oMath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50162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Экспоненциальное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Тогда вероятность определяется как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ru-RU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ru-RU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ru-RU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2547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Экспоненциальное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Чтобы получить оценку максимального правдоподобия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/>
                  <a:t>, находим максимум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Для этого определяем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производную от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6210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Экспоненциальное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λ</m:t>
                          </m:r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λ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sup>
                      </m:sSup>
                      <m:r>
                        <a:rPr lang="ru-RU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λ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sup>
                      </m:sSup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ru-RU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sup>
                          </m:sSup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num>
                                <m:den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9246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Экспоненциальное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Видим, что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λ</m:t>
                          </m:r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тогда и только тогда, когда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1−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/>
                  <a:t>, т.е. если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Таким образом, оценка максимального правдоподобия для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/>
                  <a:t> равна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ba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09635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Равномерное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Предположим, что набор данных</a:t>
                </a: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=0.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83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=1.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=0.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является реализацией случайной выборки из распределения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(0, 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с неизвестным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0948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Равномерное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Функция плотности вероятности каждого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теперь задается через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dirty="0"/>
                  <a:t> не находится в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[0, 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dirty="0"/>
                  <a:t>, и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</a:rPr>
                        <m:t>     для 0≤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65784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Равномерное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Функция правдоподобия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если </m:t>
                                </m:r>
                                <m:r>
                                  <m:rPr>
                                    <m:sty m:val="p"/>
                                  </m:rPr>
                                  <a:rPr lang="ru-RU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=1.</m:t>
                                </m:r>
                                <m:r>
                                  <a:rPr lang="ru-RU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ru-RU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если </m:t>
                                </m:r>
                                <m:r>
                                  <m:rPr>
                                    <m:sty m:val="p"/>
                                  </m:rPr>
                                  <a:rPr lang="ru-RU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=1.</m:t>
                                </m:r>
                                <m:r>
                                  <a:rPr lang="ru-RU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ru-RU" b="0" i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3092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Равномерное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Функция правдоподобия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если </m:t>
                                </m:r>
                                <m:r>
                                  <m:rPr>
                                    <m:sty m:val="p"/>
                                  </m:rPr>
                                  <a:rPr lang="ru-RU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=1.</m:t>
                                </m:r>
                                <m:r>
                                  <a:rPr lang="ru-RU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ru-RU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если </m:t>
                                </m:r>
                                <m:r>
                                  <m:rPr>
                                    <m:sty m:val="p"/>
                                  </m:rPr>
                                  <a:rPr lang="ru-RU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=1.</m:t>
                                </m:r>
                                <m:r>
                                  <a:rPr lang="ru-RU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ru-RU" b="0" i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b="0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ru-RU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достигает своего максимума при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ru-RU">
                        <a:latin typeface="Cambria Math" panose="02040503050406030204" pitchFamily="18" charset="0"/>
                      </a:rPr>
                      <m:t>=1.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ru-RU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8243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Равномерное распределение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Учитывая, что набор данных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, принадлежит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(0, 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распределению, мы видим, что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 меньше, чем хотя бы один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и что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)=1/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 если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 превышает или равна величине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Оценка максимального правдоподобия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 задается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6405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4994" y="2221198"/>
            <a:ext cx="8567390" cy="163985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Логарифмическая вероятность</a:t>
            </a:r>
          </a:p>
        </p:txBody>
      </p:sp>
    </p:spTree>
    <p:extLst>
      <p:ext uri="{BB962C8B-B14F-4D97-AF65-F5344CB8AC3E}">
        <p14:creationId xmlns:p14="http://schemas.microsoft.com/office/powerpoint/2010/main" val="32705342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Логарифмическая вероятность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Максимум можно найти, дифференцируя функцию правдоподобия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Вычисление производной от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может быть утомительным, если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является произведением функций, зависящих от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29702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Логарифмическая вероятность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Рассмотрение логарифма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преобразует произведение слагаемых в сумму логарифмов этих слагаемых, что упрощает процесс дифференцирования.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33350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Логарифмическая вероятность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Поскольку логарифм является возрастающей функцией, функция правдоподобия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и функция логарифмической вероятности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𝑙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определяемые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ru-RU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достигают своих экстремальных значений при одних и тех же значениях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.</a:t>
                </a:r>
              </a:p>
              <a:p>
                <a:r>
                  <a:rPr lang="ru-RU" dirty="0"/>
                  <a:t>В частности,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максимальна тогда и только тогда, когда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𝑙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максимальна.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 b="-39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494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Логарифмическая вероятность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Для функции правдоподобия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93</m:t>
                          </m:r>
                        </m:sup>
                      </m:sSup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322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логарифмическая функция вероятности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func>
                      <m:r>
                        <a:rPr lang="en-US">
                          <a:latin typeface="Cambria Math" panose="02040503050406030204" pitchFamily="18" charset="0"/>
                        </a:rPr>
                        <m:t>+93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r>
                        <a:rPr lang="en-US">
                          <a:latin typeface="Cambria Math" panose="02040503050406030204" pitchFamily="18" charset="0"/>
                        </a:rPr>
                        <m:t>+322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7031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Логарифмическая вероятность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Для функции правдоподобия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логарифмическая функция вероятности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ru-RU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13374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4994" y="2221198"/>
            <a:ext cx="8567390" cy="163985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Оценка параметров нормального распределения</a:t>
            </a:r>
          </a:p>
        </p:txBody>
      </p:sp>
    </p:spTree>
    <p:extLst>
      <p:ext uri="{BB962C8B-B14F-4D97-AF65-F5344CB8AC3E}">
        <p14:creationId xmlns:p14="http://schemas.microsoft.com/office/powerpoint/2010/main" val="41420548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Нормальное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Предположим, что набор данных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является реализацией случайной выборки из распределения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при этом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dirty="0"/>
                  <a:t> неизвестны.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Каковы оценки максимального правдоподобия для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dirty="0"/>
                  <a:t>?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33880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Нормальное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В этом случае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 – вектор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𝜎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и, следовательно, функция правдоподобия является функцией двух переменных: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где каждый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/>
                  <a:t> − функция плотности вероятности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: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ru-RU">
                          <a:latin typeface="Cambria Math" panose="02040503050406030204" pitchFamily="18" charset="0"/>
                        </a:rPr>
                        <m:t>,  −∞&lt;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&lt;+∞.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0955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Нормальное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Поскольку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ru-RU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func>
                      <m:r>
                        <a:rPr lang="ru-RU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e>
                          </m:d>
                        </m:e>
                      </m:func>
                      <m:r>
                        <a:rPr lang="ru-RU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num>
                                <m:den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получается, что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func>
                      <m:r>
                        <a:rPr lang="ru-RU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ad>
                            <m:radPr>
                              <m:deg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e>
                      </m:func>
                      <m:r>
                        <a:rPr lang="ru-RU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24038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Нормальное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Частные производные от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 равны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𝜕𝜇</m:t>
                          </m:r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r>
                            <a:rPr lang="ru-RU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r>
                            <a:rPr lang="ru-RU">
                              <a:latin typeface="Cambria Math" panose="02040503050406030204" pitchFamily="18" charset="0"/>
                            </a:rPr>
                            <m:t>+…+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𝜕𝜎</m:t>
                          </m:r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–</m:t>
                          </m:r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b="-4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3705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Нормальное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Решение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ru-RU">
                            <a:latin typeface="Cambria Math" panose="02040503050406030204" pitchFamily="18" charset="0"/>
                          </a:rPr>
                          <m:t>𝜕𝜇</m:t>
                        </m:r>
                      </m:den>
                    </m:f>
                    <m:r>
                      <a:rPr lang="ru-RU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ru-RU">
                            <a:latin typeface="Cambria Math" panose="02040503050406030204" pitchFamily="18" charset="0"/>
                          </a:rPr>
                          <m:t>𝜕𝜎</m:t>
                        </m:r>
                      </m:den>
                    </m:f>
                    <m:r>
                      <a:rPr lang="ru-RU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/>
                  <a:t> дает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b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bar>
                                            <m:barPr>
                                              <m:pos m:val="top"/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arPr>
                                            <m:e>
                                              <m:r>
                                                <a:rPr lang="ru-RU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bar>
                                        </m:e>
                                        <m:sub>
                                          <m:r>
                                            <a:rPr lang="ru-RU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73994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Нормальное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Таким образом,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– это оценка максимального правдоподобия для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dirty="0"/>
                  <a:t> и что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bar>
                                            <m:barPr>
                                              <m:pos m:val="top"/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arPr>
                                            <m:e>
                                              <m:r>
                                                <a:rPr lang="ru-RU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bar>
                                        </m:e>
                                        <m:sub>
                                          <m:r>
                                            <a:rPr lang="ru-RU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– это оценка максимального правдоподобия для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65989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4994" y="2221198"/>
            <a:ext cx="8567390" cy="163985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Свойства оценок максимального правдоподобия</a:t>
            </a:r>
          </a:p>
        </p:txBody>
      </p:sp>
    </p:spTree>
    <p:extLst>
      <p:ext uri="{BB962C8B-B14F-4D97-AF65-F5344CB8AC3E}">
        <p14:creationId xmlns:p14="http://schemas.microsoft.com/office/powerpoint/2010/main" val="26569092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Принцип инвариантности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Для нормального распределения мы получили, что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ru-RU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bar>
                                            <m:barPr>
                                              <m:pos m:val="top"/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arPr>
                                            <m:e>
                                              <m:r>
                                                <a:rPr lang="ru-RU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bar>
                                        </m:e>
                                        <m:sub>
                                          <m:r>
                                            <a:rPr lang="ru-RU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является оценкой максимального правдоподобия для параметра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dirty="0"/>
                  <a:t> распределения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/>
                  <a:t>. Означает ли это, что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dirty="0"/>
                  <a:t> является оценкой максимального правдоподобия для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?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 b="-79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395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Принцип инвариантности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Это действительно так! 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В общем случае можно показать, что если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dirty="0"/>
                  <a:t> является оценкой максимального правдоподобия параметра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, 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𝑔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является обратимой функцией от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, то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𝑔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является оценкой максимального правдоподобия для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𝑔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721573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Асимптотическая несмещенность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Оценка максимального правдоподобия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dirty="0"/>
                  <a:t> может быть смещена. Например,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Но по мере того, как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стремится к бесконечности, ожидаемое значение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dirty="0"/>
                  <a:t> сходится 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.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87834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Асимптотическая несмещенность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Можно показать, что оценки максимального правдоподобия являются несмещенными. Под этим мы подразумеваем, что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 является оценкой максимального правдоподобия для параметра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, то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E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7592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64633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Минимальная дисперсия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Дисперсия несмещенной оценки для параметра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 всегда больше или равна определенного положительного числа, известного как нижняя граница Крамера-</a:t>
                </a:r>
                <a:r>
                  <a:rPr lang="ru-RU" dirty="0" err="1"/>
                  <a:t>Рао</a:t>
                </a:r>
                <a:r>
                  <a:rPr lang="ru-RU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/>
                  <a:t>Можно показать, что оценки максимального правдоподобия имеют асимптотически наименьшую дисперсию среди несмещенных оценок. То есть асимптотически дисперсия оценки максимального правдоподобия для параметра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 достигает нижней границы Крамера-</a:t>
                </a:r>
                <a:r>
                  <a:rPr lang="ru-RU" dirty="0" err="1"/>
                  <a:t>Рао</a:t>
                </a:r>
                <a:r>
                  <a:rPr lang="ru-RU" dirty="0"/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4" y="1994484"/>
                <a:ext cx="10226675" cy="3738219"/>
              </a:xfrm>
              <a:prstGeom prst="rect">
                <a:avLst/>
              </a:prstGeom>
              <a:blipFill>
                <a:blip r:embed="rId2"/>
                <a:stretch>
                  <a:fillRect l="-1192" t="-1794" r="-1192" b="-65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61633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87799" y="990502"/>
            <a:ext cx="10221537" cy="114218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Принцип максимального правдоподобия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662" y="2420888"/>
            <a:ext cx="10226675" cy="345603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ru-RU" dirty="0"/>
              <a:t>Принцип максимального правдоподобия.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ru-RU" dirty="0"/>
              <a:t>Функция правдоподобия и логарифмического правдоподобия.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ru-RU" dirty="0"/>
              <a:t>Оценка параметров геометрического распределения.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ru-RU" dirty="0"/>
              <a:t>Оценка параметров равномерного распределения.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ru-RU" dirty="0"/>
              <a:t>Оценка </a:t>
            </a:r>
            <a:r>
              <a:rPr lang="ru-RU"/>
              <a:t>параметров экспоненциального </a:t>
            </a:r>
            <a:r>
              <a:rPr lang="ru-RU" dirty="0"/>
              <a:t>распределения.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ru-RU" dirty="0"/>
              <a:t>Оценка параметров нормального распределения.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ru-RU" dirty="0"/>
              <a:t>Свойства оценок максимального правдоподобия.</a:t>
            </a:r>
          </a:p>
        </p:txBody>
      </p:sp>
    </p:spTree>
    <p:extLst>
      <p:ext uri="{BB962C8B-B14F-4D97-AF65-F5344CB8AC3E}">
        <p14:creationId xmlns:p14="http://schemas.microsoft.com/office/powerpoint/2010/main" val="1331655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B02A613E-02D3-4191-ACCC-97EAB3767AB7}"/>
  <p:tag name="ISPRING_RESOURCE_FOLDER" val="C:\Users\Alexander.Kozlov.SCHOOL\Google Drive\ИПС\Учебный процесс\Подготовительные курсы\Лекции\Лекция 1. Натуральные числа\Базовый тип данных. Натуральные числа\"/>
  <p:tag name="ISPRING_PRESENTATION_PATH" val="C:\Users\Alexander.Kozlov.SCHOOL\Google Drive\ИПС\Учебный процесс\Подготовительные курсы\Лекции\Лекция 1. Натуральные числа\Базовый тип данных. Натуральные числа.pptx"/>
  <p:tag name="ISPRING_PROJECT_FOLDER_UPDATED" val="1"/>
  <p:tag name="ISPRING_SCREEN_RECS_UPDATED" val="C:\Users\Alexander.Kozlov.SCHOOL\Google Drive\ИПС\Учебный процесс\Подготовительные курсы\Лекции\Лекция 1. Натуральные числа\Базовый тип данных. Натуральные числа\"/>
</p:tagLst>
</file>

<file path=ppt/theme/theme1.xml><?xml version="1.0" encoding="utf-8"?>
<a:theme xmlns:a="http://schemas.openxmlformats.org/drawingml/2006/main" name="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онкие сплошные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TM02900722[[fn=Совет директоров]]</Template>
  <TotalTime>16499</TotalTime>
  <Words>2486</Words>
  <Application>Microsoft Office PowerPoint</Application>
  <PresentationFormat>Широкоэкранный</PresentationFormat>
  <Paragraphs>356</Paragraphs>
  <Slides>75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75</vt:i4>
      </vt:variant>
    </vt:vector>
  </HeadingPairs>
  <TitlesOfParts>
    <vt:vector size="86" baseType="lpstr">
      <vt:lpstr>Calibri</vt:lpstr>
      <vt:lpstr>Calibri Light</vt:lpstr>
      <vt:lpstr>Cambria Math</vt:lpstr>
      <vt:lpstr>Segoe UI</vt:lpstr>
      <vt:lpstr>Segoe UI Black</vt:lpstr>
      <vt:lpstr>Segoe UI Semilight</vt:lpstr>
      <vt:lpstr>Wingdings 2</vt:lpstr>
      <vt:lpstr>HDOfficeLightV0</vt:lpstr>
      <vt:lpstr>1_HDOfficeLightV0</vt:lpstr>
      <vt:lpstr>2_HDOfficeLightV0</vt:lpstr>
      <vt:lpstr>3_HDOfficeLightV0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Krokoz™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Базовый тип данных. Натуральные числа</dc:title>
  <dc:creator>Alexander</dc:creator>
  <cp:lastModifiedBy>Alexander Kozlov</cp:lastModifiedBy>
  <cp:revision>590</cp:revision>
  <dcterms:created xsi:type="dcterms:W3CDTF">2016-01-11T07:19:05Z</dcterms:created>
  <dcterms:modified xsi:type="dcterms:W3CDTF">2024-03-18T09:26:03Z</dcterms:modified>
</cp:coreProperties>
</file>