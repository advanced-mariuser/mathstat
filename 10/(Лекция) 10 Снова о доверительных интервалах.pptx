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46"/>
  </p:notesMasterIdLst>
  <p:sldIdLst>
    <p:sldId id="648" r:id="rId5"/>
    <p:sldId id="705" r:id="rId6"/>
    <p:sldId id="706" r:id="rId7"/>
    <p:sldId id="948" r:id="rId8"/>
    <p:sldId id="1016" r:id="rId9"/>
    <p:sldId id="1017" r:id="rId10"/>
    <p:sldId id="1018" r:id="rId11"/>
    <p:sldId id="1019" r:id="rId12"/>
    <p:sldId id="1020" r:id="rId13"/>
    <p:sldId id="1021" r:id="rId14"/>
    <p:sldId id="1022" r:id="rId15"/>
    <p:sldId id="1023" r:id="rId16"/>
    <p:sldId id="949" r:id="rId17"/>
    <p:sldId id="1024" r:id="rId18"/>
    <p:sldId id="1026" r:id="rId19"/>
    <p:sldId id="1025" r:id="rId20"/>
    <p:sldId id="1027" r:id="rId21"/>
    <p:sldId id="1029" r:id="rId22"/>
    <p:sldId id="1030" r:id="rId23"/>
    <p:sldId id="1031" r:id="rId24"/>
    <p:sldId id="1032" r:id="rId25"/>
    <p:sldId id="1034" r:id="rId26"/>
    <p:sldId id="1033" r:id="rId27"/>
    <p:sldId id="1035" r:id="rId28"/>
    <p:sldId id="1036" r:id="rId29"/>
    <p:sldId id="1037" r:id="rId30"/>
    <p:sldId id="1038" r:id="rId31"/>
    <p:sldId id="1039" r:id="rId32"/>
    <p:sldId id="1041" r:id="rId33"/>
    <p:sldId id="1040" r:id="rId34"/>
    <p:sldId id="1042" r:id="rId35"/>
    <p:sldId id="1043" r:id="rId36"/>
    <p:sldId id="1044" r:id="rId37"/>
    <p:sldId id="1045" r:id="rId38"/>
    <p:sldId id="1046" r:id="rId39"/>
    <p:sldId id="1047" r:id="rId40"/>
    <p:sldId id="1048" r:id="rId41"/>
    <p:sldId id="1049" r:id="rId42"/>
    <p:sldId id="1050" r:id="rId43"/>
    <p:sldId id="1051" r:id="rId44"/>
    <p:sldId id="708" r:id="rId45"/>
  </p:sldIdLst>
  <p:sldSz cx="12192000" cy="6858000"/>
  <p:notesSz cx="6858000" cy="9144000"/>
  <p:custDataLst>
    <p:tags r:id="rId4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5201" userDrawn="1">
          <p15:clr>
            <a:srgbClr val="A4A3A4"/>
          </p15:clr>
        </p15:guide>
        <p15:guide id="4" orient="horz" pos="2886" userDrawn="1">
          <p15:clr>
            <a:srgbClr val="A4A3A4"/>
          </p15:clr>
        </p15:guide>
        <p15:guide id="5" pos="619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3702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AF3"/>
    <a:srgbClr val="F36324"/>
    <a:srgbClr val="E6E6E6"/>
    <a:srgbClr val="2469F0"/>
    <a:srgbClr val="4C6FB3"/>
    <a:srgbClr val="7270F5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83245" autoAdjust="0"/>
  </p:normalViewPr>
  <p:slideViewPr>
    <p:cSldViewPr>
      <p:cViewPr varScale="1">
        <p:scale>
          <a:sx n="53" d="100"/>
          <a:sy n="53" d="100"/>
        </p:scale>
        <p:origin x="996" y="44"/>
      </p:cViewPr>
      <p:guideLst>
        <p:guide orient="horz" pos="1389"/>
        <p:guide pos="2479"/>
        <p:guide pos="5201"/>
        <p:guide orient="horz" pos="2886"/>
        <p:guide pos="619"/>
        <p:guide orient="horz" pos="618"/>
        <p:guide orient="horz" pos="3702"/>
        <p:guide pos="7061"/>
        <p:guide orient="horz"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753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53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090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856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78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04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296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211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049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64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635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018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844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04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462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792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93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58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857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06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739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32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09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0515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268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10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8551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571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933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0030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6914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4813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617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7816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235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9473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0300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028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88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BAA14-9C0F-4D1F-9B17-483C8E7E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FEE38D-D8FA-444B-97D1-1178CA8AA50A}"/>
              </a:ext>
            </a:extLst>
          </p:cNvPr>
          <p:cNvSpPr/>
          <p:nvPr/>
        </p:nvSpPr>
        <p:spPr>
          <a:xfrm>
            <a:off x="-19672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FE7900-16B0-4943-81C0-E2A7A9CD937E}"/>
              </a:ext>
            </a:extLst>
          </p:cNvPr>
          <p:cNvSpPr txBox="1">
            <a:spLocks/>
          </p:cNvSpPr>
          <p:nvPr/>
        </p:nvSpPr>
        <p:spPr>
          <a:xfrm>
            <a:off x="983432" y="1717920"/>
            <a:ext cx="8424936" cy="14950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10 Снова о доверительных интервалах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78132-2275-4C07-8C17-DD492C424319}"/>
              </a:ext>
            </a:extLst>
          </p:cNvPr>
          <p:cNvSpPr txBox="1"/>
          <p:nvPr/>
        </p:nvSpPr>
        <p:spPr>
          <a:xfrm>
            <a:off x="994695" y="3428998"/>
            <a:ext cx="7261894" cy="1872209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000" dirty="0"/>
              <a:t>Нахождение доверительного интервалах для вероятности биномиального распределения. Определение размера выборки для известной ширины</a:t>
            </a:r>
            <a:br>
              <a:rPr lang="ru-RU" sz="2000" dirty="0"/>
            </a:br>
            <a:r>
              <a:rPr lang="ru-RU" sz="2000" dirty="0"/>
              <a:t>доверительного интервала.</a:t>
            </a:r>
          </a:p>
        </p:txBody>
      </p:sp>
    </p:spTree>
    <p:extLst>
      <p:ext uri="{BB962C8B-B14F-4D97-AF65-F5344CB8AC3E}">
        <p14:creationId xmlns:p14="http://schemas.microsoft.com/office/powerpoint/2010/main" val="15557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22413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Биномиальное распределение</a:t>
            </a:r>
          </a:p>
        </p:txBody>
      </p:sp>
    </p:spTree>
    <p:extLst>
      <p:ext uri="{BB962C8B-B14F-4D97-AF65-F5344CB8AC3E}">
        <p14:creationId xmlns:p14="http://schemas.microsoft.com/office/powerpoint/2010/main" val="9845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успеха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На практике часто наблюдают за случайной величиной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с биномиальным распределением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𝐵𝑖𝑛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используют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для оценки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 </a:t>
                </a:r>
                <a:endParaRPr lang="en-US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309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Выборы, выборы,…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Например, оценивают долю избирателей, поддерживающих кандидата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на выборах. Для этого берут выборку из совокупности избирателей и определяют долю в выборке, поддерживающую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70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Выборы, выборы,…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человек выбраны случайным образом из избирателей,</a:t>
                </a:r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где доля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поддерживает кандидата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то число сторонников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в выборке моделируется с помощью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𝐵𝑖𝑛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распределения.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Мы будем считать сторонников кандидата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𝐺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«успешными».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В качестве оценки для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берется соотношение выборки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/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93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Мы хотим построить доверительный интервал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используя количество успехов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 выборке избирателей.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Для этого нужно найти статистические данные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𝑈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такие, что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𝐿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&lt;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&lt;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𝑈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)=1−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𝑈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должны зависеть только от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6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У этой задачи нет решения для общего случая.</a:t>
                </a:r>
              </a:p>
              <a:p>
                <a:r>
                  <a:rPr lang="ru-RU" sz="2400" dirty="0"/>
                  <a:t>Однако для </a:t>
                </a:r>
                <a:r>
                  <a:rPr lang="ru-RU" sz="2400" dirty="0">
                    <a:ea typeface="Calibri" panose="020F0502020204030204" pitchFamily="34" charset="0"/>
                  </a:rPr>
                  <a:t>больших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существует </a:t>
                </a:r>
                <a:r>
                  <a:rPr lang="ru-RU" sz="2400" dirty="0">
                    <a:solidFill>
                      <a:srgbClr val="246AF3"/>
                    </a:solidFill>
                    <a:ea typeface="Calibri" panose="020F0502020204030204" pitchFamily="34" charset="0"/>
                  </a:rPr>
                  <a:t>метод Уилсона</a:t>
                </a:r>
                <a:r>
                  <a:rPr lang="ru-RU" sz="2400" dirty="0">
                    <a:ea typeface="Calibri" panose="020F0502020204030204" pitchFamily="34" charset="0"/>
                  </a:rPr>
                  <a:t>,</a:t>
                </a:r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который строит доверительные интервалы с уровнем достоверности приблизительно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100(1−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%.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Известно, что метод некачественно находит доверительные интервалы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вблизи 0 и 1.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00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следствие центральной предельной теоремы, при большом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биномиальное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400" dirty="0"/>
                  <a:t> приблизительно нормальное 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приблизительно имеет распределение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28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Т.к.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то для больших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𝑛𝑝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≈1−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77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Выразим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из неравенства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Разделим на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как в числителе, так и в знаменателе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01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Неравенство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заменим на эквивалентное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r>
                                                <a:rPr lang="ru-RU" sz="240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f>
                                    <m:fPr>
                                      <m:type m:val="li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 b="-11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70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f>
                                    <m:fPr>
                                      <m:type m:val="li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f>
                                    <m:fPr>
                                      <m:type m:val="li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&lt;0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Чтобы вывести выражения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𝑈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мы можем решить неравенство, но результирующие формулы будут громоздкими и неудобными. Чтобы получить доверительный интервал, будем подставлять значения данных напрямую, а затем решать это неравенство.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r="-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824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В выборке из 125 избирателей 78 поддерживают одного кандидата. Каков 95% доверительный интервал для доли населения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поддерживающей этого кандидата?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Реализация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равна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=78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=125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 Мы подставляем это вместе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𝑧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/2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𝑧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0.025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=1.96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 последнее неравенство: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78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125</m:t>
                                  </m:r>
                                </m:den>
                              </m:f>
                              <m:r>
                                <a:rPr lang="ru-RU" sz="2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1.96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125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(1−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)&lt;0,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и, вычисляя квадраты и произведения и группируя члены, 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1.0307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−1.2787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+0.3894&lt;0.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893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Решая уравнение</a:t>
                </a:r>
                <a:endParaRPr lang="ru-RU" sz="2400" dirty="0"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1.0307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−1.2787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+0.3894=0,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−1.2787</m:t>
                              </m:r>
                            </m:e>
                          </m:d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−1.2787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−4⋅1.0307⋅0.3894</m:t>
                              </m:r>
                            </m:e>
                          </m:rad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2⋅1.0307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=0.6203±0.0835;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следовательно,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=0.54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=0.70</m:t>
                    </m:r>
                  </m:oMath>
                </a14:m>
                <a:r>
                  <a:rPr lang="ru-RU" sz="2400" dirty="0"/>
                  <a:t>, так что результирующий доверительный интервал равен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(0.54, 0.70)</m:t>
                    </m:r>
                  </m:oMath>
                </a14:m>
                <a:r>
                  <a:rPr lang="ru-RU" sz="2400" dirty="0"/>
                  <a:t>.</a:t>
                </a:r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21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Описанный метод дает вероятности покрытия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2400" dirty="0">
                    <a:ea typeface="Calibri" panose="020F0502020204030204" pitchFamily="34" charset="0"/>
                  </a:rPr>
                  <a:t> </a:t>
                </a:r>
                <a:r>
                  <a:rPr lang="ru-RU" sz="2400" dirty="0">
                    <a:ea typeface="Calibri" panose="020F0502020204030204" pitchFamily="34" charset="0"/>
                  </a:rPr>
                  <a:t>близкие к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1−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для больших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ea typeface="Calibri" panose="020F0502020204030204" pitchFamily="34" charset="0"/>
                  </a:rPr>
                  <a:t>.</a:t>
                </a:r>
                <a:endParaRPr lang="ru-RU" sz="24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Из-за дискретности распределения, при сколь угодно высоких значениях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можно найти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для которых фактический охват</a:t>
                </a:r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на несколько процентов ниже.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Низкий охват наблюдается при значениях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вблизи 0 и 1.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35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Альтернативный метод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Альтернативой является метод, предложенный (</a:t>
                </a:r>
                <a:r>
                  <a:rPr lang="en-US" sz="2400" dirty="0" err="1"/>
                  <a:t>Agresti</a:t>
                </a:r>
                <a:r>
                  <a:rPr lang="ru-RU" sz="2400" dirty="0"/>
                  <a:t>, </a:t>
                </a:r>
                <a:r>
                  <a:rPr lang="en-US" sz="2400" dirty="0" err="1"/>
                  <a:t>Coull</a:t>
                </a:r>
                <a:r>
                  <a:rPr lang="ru-RU" sz="2400" dirty="0"/>
                  <a:t>) который в целом более консервативен, чем метод Уилсона (фактически, интервал </a:t>
                </a:r>
                <a:r>
                  <a:rPr lang="ru-RU" sz="2400" dirty="0" err="1"/>
                  <a:t>Агрести</a:t>
                </a:r>
                <a:r>
                  <a:rPr lang="ru-RU" sz="2400" dirty="0"/>
                  <a:t>-Кулла содержит интервал Уилсона.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Особенно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 вблизи 0 или 1 этот метод дает консервативные доверительные интервалы.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72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Альтернативный метод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Находим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/2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    и    </m:t>
                      </m:r>
                      <m:acc>
                        <m:accPr>
                          <m:chr m:val="̃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а также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̃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sz="2400" dirty="0"/>
                  <a:t>. Приблизительный доверительный интервал</a:t>
                </a:r>
                <a:br>
                  <a:rPr lang="ru-RU" sz="2400" dirty="0"/>
                </a:br>
                <a:r>
                  <a:rPr lang="ru-RU" sz="2400" dirty="0"/>
                  <a:t>в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100(1−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% задается как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̃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acc>
                                    <m:accPr>
                                      <m:chr m:val="̃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rad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;</m:t>
                          </m:r>
                          <m:acc>
                            <m:accPr>
                              <m:chr m:val="̃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̃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acc>
                                    <m:accPr>
                                      <m:chr m:val="̃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rad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78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Доверительный интервал для минимального срока службы</a:t>
            </a:r>
          </a:p>
        </p:txBody>
      </p:sp>
    </p:spTree>
    <p:extLst>
      <p:ext uri="{BB962C8B-B14F-4D97-AF65-F5344CB8AC3E}">
        <p14:creationId xmlns:p14="http://schemas.microsoft.com/office/powerpoint/2010/main" val="887092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моделирования продолжительности жизни используется случайная выборка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из смещенного экспоненциального распределения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 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– случайная выборка из распределения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Неизвестный параметр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sz="2400" dirty="0"/>
                  <a:t> представляет минимальное время жизни.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8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получения информации 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sz="2400" dirty="0"/>
                  <a:t> естественно использовать наименьшее наблюдаемое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оценка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,… ,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Оценка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,… ,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ru-RU" sz="2400" dirty="0"/>
                  <a:t>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09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Функция распределения для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,… ,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имеет вид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ru-RU" sz="2400" dirty="0"/>
                  <a:t>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ru-RU" sz="2400" dirty="0"/>
                  <a:t>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 для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680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Далее мы решаем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требуя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006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сводится к уравнениям: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    и    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решениями которых являются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–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sz="2400">
                          <a:latin typeface="Cambria Math" panose="02040503050406030204" pitchFamily="18" charset="0"/>
                        </a:rPr>
                        <m:t>    и   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–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932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любого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sz="2400" dirty="0"/>
                  <a:t> 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или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667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Равенство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определяет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100(1−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% доверительный интервал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003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Минимальный срок службы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100(1−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% доверительный интервал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3.69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0.0253</m:t>
                              </m:r>
                            </m:num>
                            <m:den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345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Односторонние доверительные интервалы</a:t>
            </a:r>
          </a:p>
        </p:txBody>
      </p:sp>
    </p:spTree>
    <p:extLst>
      <p:ext uri="{BB962C8B-B14F-4D97-AF65-F5344CB8AC3E}">
        <p14:creationId xmlns:p14="http://schemas.microsoft.com/office/powerpoint/2010/main" val="2929620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Вы руководите электростанцией, которая вырабатывает и продает электроэнергию, и вы собираетесь купить партию угля. Вы планируете приобрести партию, если уверены, что общая теплотворная способность превышает 31,00 МДж/кг.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79957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 конце прошлого параграфа мы делали для одной партии угля оценку общей калорийности и получили 95% доверительный интервал (30,946, 31,067).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Основываясь на данных, мы на 95% уверены, что общая калорийность выше 30,946 и ниже 31,067.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Как владелец вы бы, конечно, предпочли заявление о достоверности типа «мы на 95% уверены, что общая теплотворная способность превышает 31,00».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43264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Модифицируя уравнение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−µ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315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−µ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эквивалентно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&lt;µ 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793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Равенство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&lt;µ 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даёт нам </a:t>
                </a:r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100(1−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% односторонний доверительный интервал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,+∞ 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  <a:blipFill>
                <a:blip r:embed="rId3"/>
                <a:stretch>
                  <a:fillRect l="-954" t="-14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695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исследованного угля, используя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,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21, 0.05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=1.721</m:t>
                    </m:r>
                  </m:oMath>
                </a14:m>
                <a:r>
                  <a:rPr lang="ru-RU" sz="2400" dirty="0"/>
                  <a:t>, мы получаем: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31.012−1.721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0.1294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e>
                              </m:rad>
                            </m:den>
                          </m:f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=(30.964,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∞).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Поскольку «вся неопределенность может быть отнесена на одну сторону», нижняя граница в одностороннем интервале выше</a:t>
                </a:r>
                <a:br>
                  <a:rPr lang="en-US" sz="2400" dirty="0"/>
                </a:br>
                <a:r>
                  <a:rPr lang="ru-RU" sz="2400" dirty="0"/>
                  <a:t>чем в двустороннем, хотя все еще ниже 31.00.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  <a:blipFill>
                <a:blip r:embed="rId3"/>
                <a:stretch>
                  <a:fillRect l="-954" t="-1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596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Частная электростанция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9"/>
            <a:ext cx="10226675" cy="330769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 других ситуациях может потребоваться верхняя граница достоверности. Например, если теплотворная способность ниже определенного значения, вы можете попытаться договориться о более низкой цене.</a:t>
            </a:r>
          </a:p>
        </p:txBody>
      </p:sp>
    </p:spTree>
    <p:extLst>
      <p:ext uri="{BB962C8B-B14F-4D97-AF65-F5344CB8AC3E}">
        <p14:creationId xmlns:p14="http://schemas.microsoft.com/office/powerpoint/2010/main" val="418908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Определение размера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2317211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Общий принцип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9"/>
            <a:ext cx="10226675" cy="330769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Чем уже доверительный интервал, тем лучше.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 качестве общего принципа мы знаем, что можно сделать более точные заявления, если у нас будет больше измерений. Иногда требования к точности устанавливаются еще до сбора данных, и необходимо определить соответствующий размер выборки. </a:t>
            </a:r>
          </a:p>
        </p:txBody>
      </p:sp>
    </p:spTree>
    <p:extLst>
      <p:ext uri="{BB962C8B-B14F-4D97-AF65-F5344CB8AC3E}">
        <p14:creationId xmlns:p14="http://schemas.microsoft.com/office/powerpoint/2010/main" val="28442163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Снова уголь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9"/>
            <a:ext cx="10226675" cy="330769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У нас есть партия угля для тестирования, и мы хотим получить 95% доверительный интервал, но он не должен быть шире 0.05 МДЖ/кг, т.е. нижняя и верхняя границы не должны отличаться более чем на 0.05. Сколько измерений нам нужно?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10669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Снова уголь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Предположим, что для измерений используется ГОСТ 147-2013, откуда мы можем предположить, что измерения обычно распределяются со стандартным отклонением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Когда желаемый уровень достоверности равен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, ширина доверительного интервала будет равна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2⋅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  <a:blipFill>
                <a:blip r:embed="rId3"/>
                <a:stretch>
                  <a:fillRect l="-954" t="-1473" r="-13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766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Снова уголь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Требование, чтобы ширина интервала была не более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, означает нахождение наименьшего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, удовлетворяющего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2⋅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или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/2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  <a:blipFill>
                <a:blip r:embed="rId3"/>
                <a:stretch>
                  <a:fillRect l="-954" t="-147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196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Снова уголь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примера: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ru-RU" sz="2400" dirty="0"/>
                  <a:t> 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2⋅1.96⋅0.1</m:t>
                                  </m:r>
                                </m:num>
                                <m:den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=61.4,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то есть мы должны выполнить не менее 62 измерений.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3307694"/>
              </a:xfrm>
              <a:prstGeom prst="rect">
                <a:avLst/>
              </a:prstGeom>
              <a:blipFill>
                <a:blip r:embed="rId3"/>
                <a:stretch>
                  <a:fillRect l="-954" t="-14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33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11421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Доверительные интервалы для среднего значения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82662" y="2420888"/>
                <a:ext cx="10226675" cy="34560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 </a:t>
                </a:r>
                <a:r>
                  <a:rPr lang="ru-RU" sz="2400" dirty="0">
                    <a:ea typeface="Calibri" panose="020F0502020204030204" pitchFamily="34" charset="0"/>
                  </a:rPr>
                  <a:t>биномиального распределения. </a:t>
                </a:r>
                <a:endParaRPr lang="ru-RU" sz="2400" dirty="0"/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Доверительный интервал для минимального срока службы.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Односторонние доверительные интервалы.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Определение размера выборки.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62" y="2420888"/>
                <a:ext cx="10226675" cy="3456037"/>
              </a:xfrm>
              <a:prstGeom prst="rect">
                <a:avLst/>
              </a:prstGeom>
              <a:blipFill>
                <a:blip r:embed="rId2"/>
                <a:stretch>
                  <a:fillRect l="-894" t="-33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65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18871</TotalTime>
  <Words>1449</Words>
  <Application>Microsoft Office PowerPoint</Application>
  <PresentationFormat>Широкоэкранный</PresentationFormat>
  <Paragraphs>218</Paragraphs>
  <Slides>41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41</vt:i4>
      </vt:variant>
    </vt:vector>
  </HeadingPairs>
  <TitlesOfParts>
    <vt:vector size="52" baseType="lpstr">
      <vt:lpstr>Calibri</vt:lpstr>
      <vt:lpstr>Calibri Light</vt:lpstr>
      <vt:lpstr>Cambria Math</vt:lpstr>
      <vt:lpstr>Segoe UI</vt:lpstr>
      <vt:lpstr>Segoe UI Black</vt:lpstr>
      <vt:lpstr>Segoe UI Semilight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672</cp:revision>
  <dcterms:created xsi:type="dcterms:W3CDTF">2016-01-11T07:19:05Z</dcterms:created>
  <dcterms:modified xsi:type="dcterms:W3CDTF">2024-04-15T10:07:29Z</dcterms:modified>
</cp:coreProperties>
</file>