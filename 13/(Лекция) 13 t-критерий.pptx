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  <p:sldMasterId id="2147483888" r:id="rId2"/>
    <p:sldMasterId id="2147483924" r:id="rId3"/>
    <p:sldMasterId id="2147483936" r:id="rId4"/>
  </p:sldMasterIdLst>
  <p:notesMasterIdLst>
    <p:notesMasterId r:id="rId57"/>
  </p:notesMasterIdLst>
  <p:sldIdLst>
    <p:sldId id="648" r:id="rId5"/>
    <p:sldId id="1052" r:id="rId6"/>
    <p:sldId id="948" r:id="rId7"/>
    <p:sldId id="1116" r:id="rId8"/>
    <p:sldId id="1053" r:id="rId9"/>
    <p:sldId id="1117" r:id="rId10"/>
    <p:sldId id="1118" r:id="rId11"/>
    <p:sldId id="1119" r:id="rId12"/>
    <p:sldId id="1120" r:id="rId13"/>
    <p:sldId id="1121" r:id="rId14"/>
    <p:sldId id="1122" r:id="rId15"/>
    <p:sldId id="1075" r:id="rId16"/>
    <p:sldId id="1076" r:id="rId17"/>
    <p:sldId id="1123" r:id="rId18"/>
    <p:sldId id="1063" r:id="rId19"/>
    <p:sldId id="1022" r:id="rId20"/>
    <p:sldId id="1124" r:id="rId21"/>
    <p:sldId id="1130" r:id="rId22"/>
    <p:sldId id="1093" r:id="rId23"/>
    <p:sldId id="1125" r:id="rId24"/>
    <p:sldId id="1131" r:id="rId25"/>
    <p:sldId id="1094" r:id="rId26"/>
    <p:sldId id="1126" r:id="rId27"/>
    <p:sldId id="1030" r:id="rId28"/>
    <p:sldId id="1095" r:id="rId29"/>
    <p:sldId id="1127" r:id="rId30"/>
    <p:sldId id="1128" r:id="rId31"/>
    <p:sldId id="1097" r:id="rId32"/>
    <p:sldId id="1067" r:id="rId33"/>
    <p:sldId id="1098" r:id="rId34"/>
    <p:sldId id="1129" r:id="rId35"/>
    <p:sldId id="1132" r:id="rId36"/>
    <p:sldId id="1099" r:id="rId37"/>
    <p:sldId id="1100" r:id="rId38"/>
    <p:sldId id="1133" r:id="rId39"/>
    <p:sldId id="1134" r:id="rId40"/>
    <p:sldId id="1101" r:id="rId41"/>
    <p:sldId id="1135" r:id="rId42"/>
    <p:sldId id="1136" r:id="rId43"/>
    <p:sldId id="1137" r:id="rId44"/>
    <p:sldId id="1102" r:id="rId45"/>
    <p:sldId id="1138" r:id="rId46"/>
    <p:sldId id="1139" r:id="rId47"/>
    <p:sldId id="1140" r:id="rId48"/>
    <p:sldId id="1141" r:id="rId49"/>
    <p:sldId id="1142" r:id="rId50"/>
    <p:sldId id="1143" r:id="rId51"/>
    <p:sldId id="1103" r:id="rId52"/>
    <p:sldId id="1144" r:id="rId53"/>
    <p:sldId id="1145" r:id="rId54"/>
    <p:sldId id="1146" r:id="rId55"/>
    <p:sldId id="708" r:id="rId56"/>
  </p:sldIdLst>
  <p:sldSz cx="12192000" cy="6858000"/>
  <p:notesSz cx="6858000" cy="9144000"/>
  <p:custDataLst>
    <p:tags r:id="rId5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pos="5201" userDrawn="1">
          <p15:clr>
            <a:srgbClr val="A4A3A4"/>
          </p15:clr>
        </p15:guide>
        <p15:guide id="4" orient="horz" pos="2886" userDrawn="1">
          <p15:clr>
            <a:srgbClr val="A4A3A4"/>
          </p15:clr>
        </p15:guide>
        <p15:guide id="5" pos="619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3702" userDrawn="1">
          <p15:clr>
            <a:srgbClr val="A4A3A4"/>
          </p15:clr>
        </p15:guide>
        <p15:guide id="8" pos="7061" userDrawn="1">
          <p15:clr>
            <a:srgbClr val="A4A3A4"/>
          </p15:clr>
        </p15:guide>
        <p15:guide id="9" orient="horz" pos="12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" initials="A" lastIdx="1" clrIdx="0">
    <p:extLst>
      <p:ext uri="{19B8F6BF-5375-455C-9EA6-DF929625EA0E}">
        <p15:presenceInfo xmlns:p15="http://schemas.microsoft.com/office/powerpoint/2012/main" userId="Alexa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AF3"/>
    <a:srgbClr val="F36324"/>
    <a:srgbClr val="E6E6E6"/>
    <a:srgbClr val="2469F0"/>
    <a:srgbClr val="4C6FB3"/>
    <a:srgbClr val="7270F5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3245" autoAdjust="0"/>
  </p:normalViewPr>
  <p:slideViewPr>
    <p:cSldViewPr>
      <p:cViewPr varScale="1">
        <p:scale>
          <a:sx n="53" d="100"/>
          <a:sy n="53" d="100"/>
        </p:scale>
        <p:origin x="996" y="44"/>
      </p:cViewPr>
      <p:guideLst>
        <p:guide orient="horz" pos="1389"/>
        <p:guide pos="2479"/>
        <p:guide pos="5201"/>
        <p:guide orient="horz" pos="2886"/>
        <p:guide pos="619"/>
        <p:guide orient="horz" pos="618"/>
        <p:guide orient="horz" pos="3702"/>
        <p:guide pos="7061"/>
        <p:guide orient="horz" pos="12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9CD-DFFE-4B5B-8905-980ED44A5828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A5B5A-6157-4C6B-81CD-B2369B36DE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83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513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090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94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404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637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79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733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28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662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832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770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93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100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044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64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590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1955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395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905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057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4570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947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581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190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766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960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1267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31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152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8648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1644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0774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1392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909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5978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5748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7285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0493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62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8903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2882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9683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146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2625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7323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4216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2605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3844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9273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A5B5A-6157-4C6B-81CD-B2369B36DEB2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27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3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3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0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6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8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3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3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65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8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882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9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46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159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3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2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32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10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29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91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983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15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5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11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034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19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01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814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019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83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43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994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080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15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97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204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099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06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4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5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1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35DC4E-A1CF-430A-8D57-A008F2673564}" type="datetimeFigureOut">
              <a:rPr lang="ru-RU" smtClean="0"/>
              <a:pPr/>
              <a:t>13.05.2024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37E34-8901-4EA2-AC96-D184688D78D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30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3BAA14-9C0F-4D1F-9B17-483C8E7EA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FEE38D-D8FA-444B-97D1-1178CA8AA50A}"/>
              </a:ext>
            </a:extLst>
          </p:cNvPr>
          <p:cNvSpPr/>
          <p:nvPr/>
        </p:nvSpPr>
        <p:spPr>
          <a:xfrm>
            <a:off x="-19672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16FE7900-16B0-4943-81C0-E2A7A9CD93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3432" y="1717920"/>
                <a:ext cx="8424936" cy="14950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solidFill>
                      <a:srgbClr val="2F5597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ru-RU" b="1" spc="100" dirty="0">
                    <a:solidFill>
                      <a:srgbClr val="2469F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13 </a:t>
                </a:r>
                <a14:m>
                  <m:oMath xmlns:m="http://schemas.openxmlformats.org/officeDocument/2006/math">
                    <m:r>
                      <a:rPr lang="en-US" b="1" i="1" spc="100" dirty="0" smtClean="0">
                        <a:solidFill>
                          <a:srgbClr val="2469F0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𝒕</m:t>
                    </m:r>
                  </m:oMath>
                </a14:m>
                <a:r>
                  <a:rPr lang="en-US" b="1" spc="100" dirty="0">
                    <a:solidFill>
                      <a:srgbClr val="2469F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b="1" spc="100" dirty="0">
                    <a:solidFill>
                      <a:srgbClr val="2469F0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16FE7900-16B0-4943-81C0-E2A7A9CD9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1717920"/>
                <a:ext cx="8424936" cy="1495056"/>
              </a:xfrm>
              <a:prstGeom prst="rect">
                <a:avLst/>
              </a:prstGeom>
              <a:blipFill>
                <a:blip r:embed="rId4"/>
                <a:stretch>
                  <a:fillRect l="-2533" t="-1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878132-2275-4C07-8C17-DD492C424319}"/>
                  </a:ext>
                </a:extLst>
              </p:cNvPr>
              <p:cNvSpPr txBox="1"/>
              <p:nvPr/>
            </p:nvSpPr>
            <p:spPr>
              <a:xfrm>
                <a:off x="994695" y="3428998"/>
                <a:ext cx="7261894" cy="187220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000" dirty="0"/>
                  <a:t>Если требуется знать, отклоняется ли математическое ожидание от некоторого априорно заданного значения,</a:t>
                </a:r>
              </a:p>
              <a:p>
                <a:r>
                  <a:rPr lang="ru-RU" sz="2000" dirty="0"/>
                  <a:t>то это можно исследовать с помощью статистического теста, известного как </a:t>
                </a:r>
                <a14:m>
                  <m:oMath xmlns:m="http://schemas.openxmlformats.org/officeDocument/2006/math">
                    <m:r>
                      <a:rPr lang="ru-RU" sz="2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000" dirty="0"/>
                  <a:t>-критерий.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878132-2275-4C07-8C17-DD492C424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95" y="3428998"/>
                <a:ext cx="7261894" cy="1872209"/>
              </a:xfrm>
              <a:prstGeom prst="rect">
                <a:avLst/>
              </a:prstGeom>
              <a:blipFill>
                <a:blip r:embed="rId5"/>
                <a:stretch>
                  <a:fillRect l="-840" t="-29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7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Контроль за производством шарикоподшипников</a:t>
            </a:r>
          </a:p>
        </p:txBody>
      </p:sp>
    </p:spTree>
    <p:extLst>
      <p:ext uri="{BB962C8B-B14F-4D97-AF65-F5344CB8AC3E}">
        <p14:creationId xmlns:p14="http://schemas.microsoft.com/office/powerpoint/2010/main" val="1839622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8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Производственная линия настроена на выпуск определенного типа стальных шарикоподшипников диаметром 1 миллиметр.</a:t>
            </a:r>
            <a:br>
              <a:rPr lang="ru-RU" sz="2400" dirty="0"/>
            </a:br>
            <a:r>
              <a:rPr lang="ru-RU" sz="2400" dirty="0"/>
              <a:t>Для проверки производительности производственных линий</a:t>
            </a:r>
            <a:br>
              <a:rPr lang="ru-RU" sz="2400" dirty="0"/>
            </a:br>
            <a:r>
              <a:rPr lang="ru-RU" sz="2400" dirty="0"/>
              <a:t>в конце рабочего дня отбирается несколько шарикоподшипников</a:t>
            </a:r>
            <a:br>
              <a:rPr lang="ru-RU" sz="2400" dirty="0"/>
            </a:br>
            <a:r>
              <a:rPr lang="ru-RU" sz="2400" dirty="0"/>
              <a:t>и измеряются их диаметры.</a:t>
            </a:r>
          </a:p>
        </p:txBody>
      </p:sp>
    </p:spTree>
    <p:extLst>
      <p:ext uri="{BB962C8B-B14F-4D97-AF65-F5344CB8AC3E}">
        <p14:creationId xmlns:p14="http://schemas.microsoft.com/office/powerpoint/2010/main" val="16217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209539"/>
            <a:ext cx="10226675" cy="1075446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Предположим, мы наблюдаем 20 диаметров шарикоподшипников</a:t>
            </a:r>
            <a:br>
              <a:rPr lang="ru-RU" sz="2400" dirty="0"/>
            </a:br>
            <a:r>
              <a:rPr lang="ru-RU" sz="2400" dirty="0"/>
              <a:t>с производственных линий, которые перечислены в таблице.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C8A9FF5-5B42-4745-AD5A-6091D3FFD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90070"/>
              </p:ext>
            </p:extLst>
          </p:nvPr>
        </p:nvGraphicFramePr>
        <p:xfrm>
          <a:off x="1127448" y="3204190"/>
          <a:ext cx="10071384" cy="107544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06560">
                  <a:extLst>
                    <a:ext uri="{9D8B030D-6E8A-4147-A177-3AD203B41FA5}">
                      <a16:colId xmlns:a16="http://schemas.microsoft.com/office/drawing/2014/main" val="1339570330"/>
                    </a:ext>
                  </a:extLst>
                </a:gridCol>
                <a:gridCol w="1006560">
                  <a:extLst>
                    <a:ext uri="{9D8B030D-6E8A-4147-A177-3AD203B41FA5}">
                      <a16:colId xmlns:a16="http://schemas.microsoft.com/office/drawing/2014/main" val="343208454"/>
                    </a:ext>
                  </a:extLst>
                </a:gridCol>
                <a:gridCol w="1006560">
                  <a:extLst>
                    <a:ext uri="{9D8B030D-6E8A-4147-A177-3AD203B41FA5}">
                      <a16:colId xmlns:a16="http://schemas.microsoft.com/office/drawing/2014/main" val="3022160957"/>
                    </a:ext>
                  </a:extLst>
                </a:gridCol>
                <a:gridCol w="1006560">
                  <a:extLst>
                    <a:ext uri="{9D8B030D-6E8A-4147-A177-3AD203B41FA5}">
                      <a16:colId xmlns:a16="http://schemas.microsoft.com/office/drawing/2014/main" val="3876030447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3930807992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906497981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1034807563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2850790557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2399422974"/>
                    </a:ext>
                  </a:extLst>
                </a:gridCol>
                <a:gridCol w="1007524">
                  <a:extLst>
                    <a:ext uri="{9D8B030D-6E8A-4147-A177-3AD203B41FA5}">
                      <a16:colId xmlns:a16="http://schemas.microsoft.com/office/drawing/2014/main" val="3679431968"/>
                    </a:ext>
                  </a:extLst>
                </a:gridCol>
              </a:tblGrid>
              <a:tr h="63495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1.018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1.009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1.042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1.053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0.988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1.032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853352"/>
                  </a:ext>
                </a:extLst>
              </a:tr>
              <a:tr h="44049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1.072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0.977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1.029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0.979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1.079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0.999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815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17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Средний диаметр равен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=1.03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миллиметра. Это явно отклоняется от целевого значения 1, но вопрос в том, можно ли объяснить разницу случайностью или она достаточно велика, чтобы сделать вывод о том, что производственная линия производит шарикоподшипники неправильного диаметра.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14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72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Чтобы ответить на этот вопрос, мы моделируем набор данных</a:t>
                </a:r>
                <a:br>
                  <a:rPr lang="ru-RU" sz="2400" dirty="0"/>
                </a:br>
                <a:r>
                  <a:rPr lang="ru-RU" sz="2400" dirty="0"/>
                  <a:t>как реализацию случайной выборки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из распределения вероятностей с ожидаемым значением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Параметр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представляет диаметр шарикоподшипников, производимых производственными линиями. Чтобы исследовать, отклоняется ли этот диаметр от 1, мы проверяем нулевую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29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Общая задача сравнения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Данные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являются реализацией случайной выборки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из распределения с математическим ожиданием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Мы хотим проверить, равно 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заданному априори значению, скажем,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1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Общая задача сравнения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Согласно закону больших чисел,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близко к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при большом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предполагает тестовую статистику, основанную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 Реализации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близкие к нулю, говорят в пользу нулевой гипотезы.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Достаточно 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в качестве тестовой статистики?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67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 нашем примере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=1.03−1=0.03</m:t>
                    </m:r>
                  </m:oMath>
                </a14:m>
                <a:r>
                  <a:rPr lang="ru-RU" sz="2400" dirty="0"/>
                  <a:t>.</a:t>
                </a:r>
                <a:br>
                  <a:rPr lang="ru-RU" sz="2400" dirty="0"/>
                </a:br>
                <a:r>
                  <a:rPr lang="ru-RU" sz="2400" dirty="0"/>
                  <a:t>Следует ли нам интерпретировать это как малое значение?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При нулевой гипотезе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68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Стандартное отклонение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будет иметь стандартное отклонение 1, то значение 0.03 находится в пределах одного стандартного отклонения от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bar>
                          </m:e>
                          <m: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. Правило «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несколько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400" dirty="0"/>
                  <a:t>» предполагает, что значение 0.03 не является исключительным.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Его следует рассматривать как небольшое отклонение.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81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Стандартное отклонение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имеет стандартное отклонение 0.001, то значение 0.03 находится на расстоянии 30 стандартных отклонений от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pos m:val="top"/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ru-RU" sz="24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bar>
                          </m:e>
                          <m: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. Согласно правилу «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400" dirty="0"/>
                  <a:t> несколько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400" dirty="0"/>
                  <a:t>», это очень редкий случай.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Значение 0.03 следует рассматривать как большое отклонение.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140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Стандартизация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Стандартизируем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чтобы учесть его вариацию.</a:t>
                </a:r>
              </a:p>
              <a:p>
                <a:r>
                  <a:rPr lang="ru-RU" sz="2400" dirty="0"/>
                  <a:t>Известно, что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/>
                  <a:t> – дисперсия каждого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Стандартизация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означает, что мы должны разделить на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ru-RU" sz="2400" dirty="0"/>
                  <a:t>. Поскольку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400" dirty="0"/>
                  <a:t> неизвестно, мы подставляем вместо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400" dirty="0"/>
                  <a:t> стандартное отклонение выборки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64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Тестовая статистика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Всё это приводит к следующей тестовой статистике для нулевой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𝐻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  <m:r>
                      <a:rPr lang="ru-RU" sz="2400"/>
                      <m:t>: </m:t>
                    </m:r>
                    <m:r>
                      <a:rPr lang="ru-RU" sz="2400"/>
                      <m:t>𝜇</m:t>
                    </m:r>
                    <m:r>
                      <a:rPr lang="ru-RU" sz="2400"/>
                      <m:t>=</m:t>
                    </m:r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𝜇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/>
                        <m:t>𝑇</m:t>
                      </m:r>
                      <m:r>
                        <a:rPr lang="ru-RU" sz="2400"/>
                        <m:t>=</m:t>
                      </m:r>
                      <m:f>
                        <m:fPr>
                          <m:ctrlPr>
                            <a:rPr lang="ru-RU" sz="2400"/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/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/>
                                  </m:ctrlPr>
                                </m:barPr>
                                <m:e>
                                  <m:r>
                                    <a:rPr lang="ru-RU" sz="2400"/>
                                    <m:t>𝑋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/>
                                <m:t>𝑛</m:t>
                              </m:r>
                            </m:sub>
                          </m:sSub>
                          <m:r>
                            <a:rPr lang="ru-RU" sz="2400"/>
                            <m:t>−</m:t>
                          </m:r>
                          <m:sSub>
                            <m:sSubPr>
                              <m:ctrlPr>
                                <a:rPr lang="ru-RU" sz="2400"/>
                              </m:ctrlPr>
                            </m:sSubPr>
                            <m:e>
                              <m:r>
                                <a:rPr lang="ru-RU" sz="2400"/>
                                <m:t>𝜇</m:t>
                              </m:r>
                            </m:e>
                            <m:sub>
                              <m:r>
                                <a:rPr lang="ru-RU" sz="2400"/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/>
                              </m:ctrlPr>
                            </m:sSubPr>
                            <m:e>
                              <m:r>
                                <a:rPr lang="ru-RU" sz="2400"/>
                                <m:t>𝑆</m:t>
                              </m:r>
                            </m:e>
                            <m:sub>
                              <m:r>
                                <a:rPr lang="ru-RU" sz="2400"/>
                                <m:t>𝑛</m:t>
                              </m:r>
                            </m:sub>
                          </m:sSub>
                          <m:r>
                            <a:rPr lang="ru-RU" sz="2400"/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ru-RU" sz="2400"/>
                              </m:ctrlPr>
                            </m:radPr>
                            <m:deg/>
                            <m:e>
                              <m:r>
                                <a:rPr lang="ru-RU" sz="2400"/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/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Значения </a:t>
                </a:r>
                <a14:m>
                  <m:oMath xmlns:m="http://schemas.openxmlformats.org/officeDocument/2006/math">
                    <m:r>
                      <a:rPr lang="ru-RU" sz="2400"/>
                      <m:t>𝑇</m:t>
                    </m:r>
                  </m:oMath>
                </a14:m>
                <a:r>
                  <a:rPr lang="ru-RU" sz="2400" dirty="0"/>
                  <a:t>, близкие к нулю, говорят в пользу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𝐻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  <m:r>
                      <a:rPr lang="ru-RU" sz="2400"/>
                      <m:t>: </m:t>
                    </m:r>
                    <m:r>
                      <a:rPr lang="ru-RU" sz="2400"/>
                      <m:t>𝜇</m:t>
                    </m:r>
                    <m:r>
                      <a:rPr lang="ru-RU" sz="2400"/>
                      <m:t>=</m:t>
                    </m:r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𝜇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Большие положительные значения </a:t>
                </a:r>
                <a14:m>
                  <m:oMath xmlns:m="http://schemas.openxmlformats.org/officeDocument/2006/math">
                    <m:r>
                      <a:rPr lang="ru-RU" sz="2400"/>
                      <m:t>𝑇</m:t>
                    </m:r>
                  </m:oMath>
                </a14:m>
                <a:r>
                  <a:rPr lang="ru-RU" sz="2400" dirty="0"/>
                  <a:t> предполагают, что </a:t>
                </a:r>
                <a14:m>
                  <m:oMath xmlns:m="http://schemas.openxmlformats.org/officeDocument/2006/math">
                    <m:r>
                      <a:rPr lang="ru-RU" sz="2400"/>
                      <m:t>𝜇</m:t>
                    </m:r>
                    <m:r>
                      <a:rPr lang="ru-RU" sz="2400"/>
                      <m:t>&gt;</m:t>
                    </m:r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𝜇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</a:t>
                </a:r>
                <a:br>
                  <a:rPr lang="ru-RU" sz="2400" dirty="0"/>
                </a:br>
                <a:r>
                  <a:rPr lang="ru-RU" sz="2400" dirty="0"/>
                  <a:t>а большие отрицательные значения предполагают, что </a:t>
                </a:r>
                <a14:m>
                  <m:oMath xmlns:m="http://schemas.openxmlformats.org/officeDocument/2006/math">
                    <m:r>
                      <a:rPr lang="ru-RU" sz="2400"/>
                      <m:t>𝜇</m:t>
                    </m:r>
                    <m:r>
                      <a:rPr lang="ru-RU" sz="2400"/>
                      <m:t>&lt;</m:t>
                    </m:r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𝜇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;</a:t>
                </a:r>
                <a:br>
                  <a:rPr lang="ru-RU" sz="2400" dirty="0"/>
                </a:br>
                <a:r>
                  <a:rPr lang="ru-RU" sz="2400" dirty="0"/>
                  <a:t>и то, и другое свидетельствует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/>
                        </m:ctrlPr>
                      </m:sSubPr>
                      <m:e>
                        <m:r>
                          <a:rPr lang="ru-RU" sz="2400"/>
                          <m:t>𝐻</m:t>
                        </m:r>
                      </m:e>
                      <m:sub>
                        <m:r>
                          <a:rPr lang="ru-RU" sz="2400"/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b="-8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19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Стальные шарикоподшипники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Для данных о шарикоподшипниках можно найти,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=0.0372</m:t>
                    </m:r>
                  </m:oMath>
                </a14:m>
                <a:r>
                  <a:rPr lang="ru-RU" sz="2400" dirty="0"/>
                  <a:t>, так что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.=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1.03−1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0.0372/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=3.607.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Это явно отличается от нуля, но вопрос в том, достаточно ли велика эта разница, чтобы отклонить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Чтобы ответить на этот вопрос, нам нужно знать распределение вероятностей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при нулевой гипотезе.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87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t-</a:t>
            </a: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критерий с одной выборкой</a:t>
            </a:r>
          </a:p>
        </p:txBody>
      </p:sp>
    </p:spTree>
    <p:extLst>
      <p:ext uri="{BB962C8B-B14F-4D97-AF65-F5344CB8AC3E}">
        <p14:creationId xmlns:p14="http://schemas.microsoft.com/office/powerpoint/2010/main" val="195694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t-</a:t>
            </a: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критерий с одной выборкой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Классическое предположение состоит в том, что набор данных является реализацией случайной выборки из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ru-RU" sz="240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400" dirty="0"/>
                  <a:t> распределения. В этом случае наша тестовая статистика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оказывается имеющей</a:t>
                </a:r>
                <a:br>
                  <a:rPr lang="ru-RU" sz="2400" dirty="0"/>
                </a:b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-распределение в соответствии.</a:t>
                </a:r>
                <a:br>
                  <a:rPr lang="ru-RU" sz="2400" dirty="0"/>
                </a:br>
                <a:r>
                  <a:rPr lang="ru-RU" sz="2400" dirty="0"/>
                  <a:t>Проверка нулевой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называется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-тестом</a:t>
                </a:r>
                <a:br>
                  <a:rPr lang="ru-RU" sz="2400" dirty="0"/>
                </a:br>
                <a:r>
                  <a:rPr lang="ru-RU" sz="2400" dirty="0"/>
                  <a:t>(с одной выборкой).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 r="-3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70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t-</a:t>
            </a: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критерий с одной выборкой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Без предположения о нормальности мы будем использовать </a:t>
                </a:r>
                <a:r>
                  <a:rPr lang="ru-RU" sz="2400" dirty="0" err="1"/>
                  <a:t>bootstrap</a:t>
                </a:r>
                <a:r>
                  <a:rPr lang="ru-RU" sz="2400" dirty="0"/>
                  <a:t> для аппроксимации распределения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Для больших размеров выборки это распределение может быть аппроксимировано с помощью центральной предельной теоремы.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 r="-3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40468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Нормальные данные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000872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Предположим, что набор данных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является реализацией случайной выборки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400" dirty="0"/>
                  <a:t> из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ru-RU" sz="240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400" dirty="0"/>
                  <a:t> распределения.</a:t>
                </a:r>
              </a:p>
              <a:p>
                <a:r>
                  <a:rPr lang="ru-RU" sz="2400" dirty="0"/>
                  <a:t>Тогда изученное </a:t>
                </a:r>
                <a:r>
                  <a:rPr lang="ru-RU" sz="2400" dirty="0">
                    <a:solidFill>
                      <a:srgbClr val="246AF3"/>
                    </a:solidFill>
                  </a:rPr>
                  <a:t>среднее значение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solidFill>
                          <a:srgbClr val="246AF3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solidFill>
                          <a:srgbClr val="246AF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solidFill>
                          <a:srgbClr val="246AF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solidFill>
                          <a:srgbClr val="246AF3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При нулевой гипотезе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наша тестовая статистика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также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Следовательно, если мы проверяем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на уровне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, то мы должны отклонить нулевую гипотезу в пользу</a:t>
                </a:r>
                <a:br>
                  <a:rPr lang="ru-RU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если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≤−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 или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0872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9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Нормальные данные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002172" y="2000872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spcAft>
                    <a:spcPts val="800"/>
                  </a:spcAft>
                </a:pPr>
                <a:r>
                  <a:rPr lang="ru-RU" sz="2400" dirty="0"/>
                  <a:t>Аналогичные правила принятия решений применяются к альтернативам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Предположим, что в примере с шарикоподшипником мы проверяем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ru-RU" sz="2400" dirty="0"/>
                  <a:t> при уровне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Мы находим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19,0.025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=2.093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Мы должны отклонить, если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≤−2.093</m:t>
                    </m:r>
                  </m:oMath>
                </a14:m>
                <a:r>
                  <a:rPr lang="ru-RU" sz="2400" dirty="0"/>
                  <a:t> или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≥2.093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Для данных о шарикоподшипниках мы нашли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=3.607</m:t>
                    </m:r>
                  </m:oMath>
                </a14:m>
                <a:r>
                  <a:rPr lang="ru-RU" sz="2400" dirty="0"/>
                  <a:t>, что означает, что мы отклоняем нулевую гипотезу на уровне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72" y="2000872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894" t="-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90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566780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Нарисуйте прямоугольник высотой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 и шириной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 (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), а внутри этого прямоугольника нарисуйте квадрат со сторонами длиной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.</a:t>
                </a:r>
                <a:br>
                  <a:rPr lang="ru-RU" sz="2400" dirty="0"/>
                </a:br>
                <a:r>
                  <a:rPr lang="ru-RU" sz="2400" dirty="0"/>
                  <a:t>Это создает еще один (меньший) прямоугольник с горизонтальными</a:t>
                </a:r>
                <a:br>
                  <a:rPr lang="ru-RU" sz="2400" dirty="0"/>
                </a:br>
                <a:r>
                  <a:rPr lang="ru-RU" sz="2400" dirty="0"/>
                  <a:t>и вертикальными сторонами длины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.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9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Большой прямоугольник с отношением вертикали к горизонтали, равным отношению горизонтали к вертикали для маленького прямоугольника, т.е.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древние греки называли «</a:t>
                </a:r>
                <a:r>
                  <a:rPr lang="ru-RU" sz="2400" dirty="0">
                    <a:solidFill>
                      <a:srgbClr val="246AF3"/>
                    </a:solidFill>
                  </a:rPr>
                  <a:t>золотым прямоугольником</a:t>
                </a:r>
                <a:r>
                  <a:rPr lang="ru-RU" sz="2400" dirty="0"/>
                  <a:t>», которые часто использовали их в своей архитектуре. После решения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 мы получаем, что отношение высоты к ширине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 равно «золотому сечению»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≈0.618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2004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21" r="-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65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Золотое сечение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9"/>
                <a:ext cx="10226675" cy="14354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Данные в таблице представляют соответствующие соотношения</a:t>
                </a:r>
                <a:br>
                  <a:rPr lang="ru-RU" sz="2400" dirty="0"/>
                </a:b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 для прямоугольников, используемых индейцами для украшения своих кожаных изделий.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9"/>
                <a:ext cx="10226675" cy="1435486"/>
              </a:xfrm>
              <a:prstGeom prst="rect">
                <a:avLst/>
              </a:prstGeom>
              <a:blipFill>
                <a:blip r:embed="rId3"/>
                <a:stretch>
                  <a:fillRect l="-954" t="-33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D26CF4F-2B26-4C3D-BE1C-2609F8F70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106968"/>
              </p:ext>
            </p:extLst>
          </p:nvPr>
        </p:nvGraphicFramePr>
        <p:xfrm>
          <a:off x="991122" y="3712405"/>
          <a:ext cx="10209504" cy="7251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0366">
                  <a:extLst>
                    <a:ext uri="{9D8B030D-6E8A-4147-A177-3AD203B41FA5}">
                      <a16:colId xmlns:a16="http://schemas.microsoft.com/office/drawing/2014/main" val="2888927042"/>
                    </a:ext>
                  </a:extLst>
                </a:gridCol>
                <a:gridCol w="1020366">
                  <a:extLst>
                    <a:ext uri="{9D8B030D-6E8A-4147-A177-3AD203B41FA5}">
                      <a16:colId xmlns:a16="http://schemas.microsoft.com/office/drawing/2014/main" val="901244497"/>
                    </a:ext>
                  </a:extLst>
                </a:gridCol>
                <a:gridCol w="1020366">
                  <a:extLst>
                    <a:ext uri="{9D8B030D-6E8A-4147-A177-3AD203B41FA5}">
                      <a16:colId xmlns:a16="http://schemas.microsoft.com/office/drawing/2014/main" val="347557155"/>
                    </a:ext>
                  </a:extLst>
                </a:gridCol>
                <a:gridCol w="1020366">
                  <a:extLst>
                    <a:ext uri="{9D8B030D-6E8A-4147-A177-3AD203B41FA5}">
                      <a16:colId xmlns:a16="http://schemas.microsoft.com/office/drawing/2014/main" val="155420119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2313173230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2035633873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2614009397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1635217065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1010212530"/>
                    </a:ext>
                  </a:extLst>
                </a:gridCol>
                <a:gridCol w="1021340">
                  <a:extLst>
                    <a:ext uri="{9D8B030D-6E8A-4147-A177-3AD203B41FA5}">
                      <a16:colId xmlns:a16="http://schemas.microsoft.com/office/drawing/2014/main" val="3717099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0.693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0.749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0.654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0.672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0.690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0.628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661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0.609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0.601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0.553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0.570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0.844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0.576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j-ea"/>
                          <a:cs typeface="Segoe UI" panose="020B0502040204020203" pitchFamily="34" charset="0"/>
                        </a:rPr>
                        <a:t>0.933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7184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683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Золотое сечение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Можно ли предположить, что индейцы также использовали золотые прямоугольники?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Мы проверим это с помощью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-критерия.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483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Золотое сечение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9831" y="2000872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Наблюдаемые соотношения моделируются как реализация случайной выборки из распределения с математическим ожиданием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, где параметр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представляет истинные эстетические предпочтения индейцев в отношении соотношения высоты к ширине.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Мы хотим протестировать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=0.618 против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≠0.618.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2000872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894" t="-1305" r="-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634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Золотое сечение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1998465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Для коэффициентов индейцев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=0.6605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=0.0925</m:t>
                    </m:r>
                  </m:oMath>
                </a14:m>
                <a:r>
                  <a:rPr lang="ru-RU" sz="2400" dirty="0"/>
                  <a:t>,</a:t>
                </a:r>
              </a:p>
              <a:p>
                <a:r>
                  <a:rPr lang="ru-RU" sz="2400" dirty="0"/>
                  <a:t>так что значение тестовой статистики равно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−0.618</m:t>
                          </m:r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0.6605−0.618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0.0925/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=2.055.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1998465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017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Более тщательное изучение данных показывает, что нормальное распределение не является подходящей моделью.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 определению отношение высоты к ширине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2400" dirty="0"/>
                  <a:t> всегда находится в диапазоне от 0 до 1. Поскольку некоторые точки данных также близки к правой границе 1, нормальное распределение неуместно. Если мы не можем предположить нормальное распределение модели, мы больше не можем заключить, что наша тестовая статистика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ru-RU" sz="2400" dirty="0"/>
                  <a:t> в соответствии с нулевой гипотезой.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 r="-10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6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Поскольку нет причин предполагать какой-либо другой конкретный тип распределения для моделирования данных, мы аппроксимируем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400" dirty="0"/>
                  <a:t> в соответствии с нулевой гипотезой.</a:t>
                </a:r>
              </a:p>
              <a:p>
                <a:r>
                  <a:rPr lang="ru-RU" sz="2400" dirty="0"/>
                  <a:t>Чтобы приблизить его распределение, мы используем эмпирическое моделирование </a:t>
                </a:r>
                <a:r>
                  <a:rPr lang="ru-RU" sz="2400" dirty="0" err="1"/>
                  <a:t>bootstrap</a:t>
                </a:r>
                <a:r>
                  <a:rPr lang="ru-RU" sz="2400" dirty="0"/>
                  <a:t> для среднего значения.</a:t>
                </a:r>
              </a:p>
              <a:p>
                <a:r>
                  <a:rPr lang="ru-RU" sz="2400" dirty="0"/>
                  <a:t>Мы генерируем 10 000 наборов данных </a:t>
                </a:r>
                <a:r>
                  <a:rPr lang="ru-RU" sz="2400" dirty="0" err="1"/>
                  <a:t>bootstrap</a:t>
                </a:r>
                <a:r>
                  <a:rPr lang="ru-RU" sz="2400" dirty="0"/>
                  <a:t> и для каждого набора данных </a:t>
                </a:r>
                <a:r>
                  <a:rPr lang="ru-RU" sz="2400" dirty="0" err="1"/>
                  <a:t>bootstrap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sz="240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400" dirty="0"/>
                  <a:t> вычисляем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−0.6605</m:t>
                          </m:r>
                        </m:num>
                        <m:den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209538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260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8266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тестируем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=0.618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≠0.618</m:t>
                    </m:r>
                  </m:oMath>
                </a14:m>
                <a:r>
                  <a:rPr lang="ru-RU" sz="2400" dirty="0"/>
                  <a:t> на уровне α = 0,05.</a:t>
                </a:r>
              </a:p>
              <a:p>
                <a:r>
                  <a:rPr lang="ru-RU" sz="2400" dirty="0"/>
                  <a:t>Мы находим следующие начальные приближения для критических значений: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ru-RU" sz="2400">
                          <a:latin typeface="Cambria Math" panose="02040503050406030204" pitchFamily="18" charset="0"/>
                        </a:rPr>
                        <m:t>=−3.334    и    </m:t>
                      </m:r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ru-RU" sz="2400">
                          <a:latin typeface="Cambria Math" panose="02040503050406030204" pitchFamily="18" charset="0"/>
                        </a:rPr>
                        <m:t>=1.644.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Поскольку для данных индейцев значение 2.055 тестовой статистики больше, чем 1.644, мы отклоняем нулевую гипотезу на уровне 0.05.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6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89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201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Ненормальные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8266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В качестве альтернативы, мы можем вычислить начальную аппроксимацию одностороннего значения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соответствующего 2.055:</a:t>
                </a:r>
                <a:endParaRPr lang="ru-RU" sz="24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≥2.055)≈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число значений 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 больше или равно 2.055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10 000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=0.0067</m:t>
                      </m:r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что меньше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/2=0.025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Значение 2.055 следует рассматривать как исключительно большое, и мы отвергаем нулевую гипотезу. Эстетические предпочтения в отношении соотношения высоты и ширины у индейцев отличаются</a:t>
                </a:r>
                <a:br>
                  <a:rPr lang="ru-RU" sz="2400" dirty="0"/>
                </a:br>
                <a:r>
                  <a:rPr lang="ru-RU" sz="2400" dirty="0"/>
                  <a:t>от таковых у древних греков.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6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894" t="-2117" r="-4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863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87030" y="1999350"/>
            <a:ext cx="10221538" cy="17896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Большие выборки</a:t>
            </a:r>
          </a:p>
        </p:txBody>
      </p:sp>
    </p:spTree>
    <p:extLst>
      <p:ext uri="{BB962C8B-B14F-4D97-AF65-F5344CB8AC3E}">
        <p14:creationId xmlns:p14="http://schemas.microsoft.com/office/powerpoint/2010/main" val="3722406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Большие выборки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При больших размерах выборки распределение среднего значения, полученного методом Стьюдента, может быть аппроксимировано стандартным нормальным распределением.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Это означает, что при больших размерах выборки распределение статистики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-критерия при нулевой гипотезе также может быть аппроксимировано стандартным нормальным распределением.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679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Гейзеры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3545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Исследуется ожидаемое время между последовательными извержениями и продолжительности извержения.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Предположим, что ожидаемая продолжительность извержения составляет 4 минуты (240 секунд).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Кажется ли это вероятным на основе данных?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Исследуем это, протестировав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=240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≠240</m:t>
                    </m:r>
                  </m:oMath>
                </a14:m>
                <a:r>
                  <a:rPr lang="ru-RU" sz="2400" dirty="0"/>
                  <a:t> на уровне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lang="ru-RU" sz="2400" dirty="0"/>
                  <a:t>, где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sz="2400" dirty="0"/>
                  <a:t> – математическое ожидание распределения модели.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3545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32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Гейзеры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3545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Значение тестовой статистики равно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−240</m:t>
                          </m:r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209.3−240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68.48/</m:t>
                          </m:r>
                          <m:rad>
                            <m:radPr>
                              <m:deg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272</m:t>
                              </m:r>
                            </m:e>
                          </m:rad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=−7.39.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Одностороннее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-значение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≤−7.39)</m:t>
                    </m:r>
                  </m:oMath>
                </a14:m>
                <a:r>
                  <a:rPr lang="ru-RU" sz="2400" dirty="0"/>
                  <a:t> может быть аппроксимировано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𝑍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≤−7.39)</m:t>
                    </m:r>
                  </m:oMath>
                </a14:m>
                <a:r>
                  <a:rPr lang="ru-RU" sz="2400" dirty="0"/>
                  <a:t>, где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ru-RU" sz="2400" dirty="0"/>
                  <a:t> имеет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lang="ru-RU" sz="2400" dirty="0"/>
                  <a:t> распределение.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≤−7.39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=7.5⋅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−14</m:t>
                          </m:r>
                        </m:sup>
                      </m:sSup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Полученные данные дают неопровержимые доказательства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=240</m:t>
                    </m:r>
                  </m:oMath>
                </a14:m>
                <a:r>
                  <a:rPr lang="ru-RU" sz="2400" dirty="0"/>
                  <a:t>, так что мы приходим к выводу, что ожидаемая продолжительность извержения отличается от 4 минут.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3545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1305" b="-135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531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7030" y="1999350"/>
                <a:ext cx="10221538" cy="17896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</a:t>
                </a:r>
                <a:b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</a:b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в регрессионной установке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30" y="1999350"/>
                <a:ext cx="10221538" cy="1789690"/>
              </a:xfrm>
              <a:prstGeom prst="rect">
                <a:avLst/>
              </a:prstGeom>
              <a:blipFill>
                <a:blip r:embed="rId3"/>
                <a:stretch>
                  <a:fillRect l="-2147" t="-9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670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Полезен ли кальций?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001540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В Англии и Уэльсе было проведено исследование экологических причин заболеваний. Ежегодный уровень и концентрация кальция</a:t>
            </a:r>
            <a:br>
              <a:rPr lang="ru-RU" sz="2400" dirty="0"/>
            </a:br>
            <a:r>
              <a:rPr lang="ru-RU" sz="2400" dirty="0"/>
              <a:t>в питьевой воде были зарегистрированы для 61 крупного города.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/>
              <a:t>Данные в таблице представляют годовой уровень смертности, усредненный за 1958-1964 годы, и концентрацию кальция в частях</a:t>
            </a:r>
            <a:br>
              <a:rPr lang="ru-RU" sz="2400" dirty="0"/>
            </a:br>
            <a:r>
              <a:rPr lang="ru-RU" sz="2400" dirty="0"/>
              <a:t>на миллион.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15423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Полезен ли кальций?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72" y="2001540"/>
            <a:ext cx="10226675" cy="373821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ru-RU" sz="2400" dirty="0"/>
              <a:t>Исследование диаграмм рассеяния показало небольшую тенденцию</a:t>
            </a:r>
            <a:br>
              <a:rPr lang="ru-RU" sz="2400" dirty="0"/>
            </a:br>
            <a:r>
              <a:rPr lang="ru-RU" sz="2400" dirty="0"/>
              <a:t>к снижению смертности, что позволяет предположить, что более высокие концентрации кальция приводят к снижению уровня смертности.</a:t>
            </a:r>
          </a:p>
          <a:p>
            <a:r>
              <a:rPr lang="ru-RU" sz="2400" dirty="0"/>
              <a:t>Вопрос в том, так ли это на самом деле или небольшую тенденцию к снижению следует отнести на счет случайности?</a:t>
            </a:r>
          </a:p>
        </p:txBody>
      </p:sp>
    </p:spTree>
    <p:extLst>
      <p:ext uri="{BB962C8B-B14F-4D97-AF65-F5344CB8AC3E}">
        <p14:creationId xmlns:p14="http://schemas.microsoft.com/office/powerpoint/2010/main" val="1212744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Полезен ли кальций?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моделируем данные о смертности с помощью простой линейной регрессионной модели с нормально распределенными ошибками,</a:t>
                </a:r>
                <a:br>
                  <a:rPr lang="ru-RU" sz="2400" dirty="0"/>
                </a:br>
                <a:r>
                  <a:rPr lang="ru-RU" sz="2400" dirty="0"/>
                  <a:t> коэффициентом смертности в качестве зависимой переменной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400" dirty="0"/>
                  <a:t> и концентрацией кальция в качестве независимой переменной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для  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=1, 2,… , 61,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,… 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61</m:t>
                        </m:r>
                      </m:sub>
                    </m:sSub>
                  </m:oMath>
                </a14:m>
                <a:r>
                  <a:rPr lang="ru-RU" sz="2400" dirty="0"/>
                  <a:t> – случайная выборка из распределения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0, 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400" dirty="0"/>
                  <a:t>. Параметр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 представляет изменение уровня смертности, если мы увеличим концентрацию кальция на одну единицу.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959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99831" y="992760"/>
            <a:ext cx="10221537" cy="78231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sz="4000" spc="100" dirty="0">
                <a:solidFill>
                  <a:srgbClr val="246AF3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Полезен ли кальций?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проверяем нулевую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/>
                  <a:t> (кальций не оказывает влияния на уровень смертности)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ru-RU" sz="2400" dirty="0"/>
                  <a:t> (более высокая концентрация кальция снижает уровень смертности).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3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150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Для нулевой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мы используем в качестве тестовой статистики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ru-RU" sz="2400" dirty="0"/>
                  <a:t> – оценка методом наименьших квадратов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400" dirty="0"/>
                  <a:t> 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682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В этом выражении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является оценкой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/>
                  <a:t>, а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Случайная величина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2400" dirty="0"/>
                  <a:t> является оценкой дисперсии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805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Аналогично тестовой статистике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-теста с одной выборкой, тестовая статистика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 сравнивает оценку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ru-RU" sz="2400" dirty="0"/>
                  <a:t> со значением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ru-RU" sz="2400" dirty="0"/>
                </a:br>
                <a:r>
                  <a:rPr lang="ru-RU" sz="2400" dirty="0"/>
                  <a:t>и стандартизирует путем деления на оценку для стандартного отклонения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, близкие к нулю, свидетельствуют в пользу нулевой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Большие положительные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 предполагают,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тогда как большие отрицательные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 предполагают,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349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В случае нормальных случайных выборок статистика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-критерия для одной выборки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ru-RU" sz="2400" dirty="0"/>
                  <a:t> при нулевой гипотезе.</a:t>
                </a:r>
              </a:p>
              <a:p>
                <a:r>
                  <a:rPr lang="ru-RU" sz="2400" dirty="0"/>
                  <a:t>В случае нормально распределенных ошибок тестовая статистика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 имеет распределение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ru-RU" sz="2400" dirty="0"/>
                  <a:t> при нулевой гипотезе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399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В примере о смертности мы хотим протестировать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Для данных мы находим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=−3.2261</m:t>
                    </m:r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=0.4847</m:t>
                    </m:r>
                  </m:oMath>
                </a14:m>
                <a:r>
                  <a:rPr lang="ru-RU" sz="2400" dirty="0"/>
                  <a:t>, так что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 равно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2261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4847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=−6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656.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Если мы тестируем на уровне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ru-RU" sz="2400" dirty="0"/>
                  <a:t>, то мы должны сравнить это значение с левым критическим значением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59,0.05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879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тест для углового коэффициента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Насколько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=−6.656</m:t>
                    </m:r>
                  </m:oMath>
                </a14:m>
                <a:r>
                  <a:rPr lang="ru-RU" sz="2400" dirty="0"/>
                  <a:t> свидетельствует против нулевой гипотезы, выражается односторонним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-значением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≤−6.656)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С помощью статистического пакета мы находим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≤−6.656</m:t>
                          </m:r>
                        </m:e>
                      </m:d>
                      <m:r>
                        <a:rPr lang="ru-RU" sz="2400">
                          <a:latin typeface="Cambria Math" panose="02040503050406030204" pitchFamily="18" charset="0"/>
                        </a:rPr>
                        <m:t>=5.2⋅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−9</m:t>
                          </m:r>
                        </m:sup>
                      </m:sSup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Полученные данные дают неопровержимые доказательства против нулевой гипотезы.</a:t>
                </a:r>
              </a:p>
              <a:p>
                <a:r>
                  <a:rPr lang="ru-RU" sz="2400" dirty="0"/>
                  <a:t>Мы пришли к выводу, что более высокие концентрации кальция соответствуют более низким показателям смертности.</a:t>
                </a:r>
              </a:p>
              <a:p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071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7030" y="1999350"/>
                <a:ext cx="10221538" cy="164567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 для свободного члена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30" y="1999350"/>
                <a:ext cx="10221538" cy="1645674"/>
              </a:xfrm>
              <a:prstGeom prst="rect">
                <a:avLst/>
              </a:prstGeom>
              <a:blipFill>
                <a:blip r:embed="rId3"/>
                <a:stretch>
                  <a:fillRect t="-103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08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 для свободного члена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Мы проверяем нулевую гипотезу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с помощью тестовой статистики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ru-RU" sz="2400" dirty="0"/>
                  <a:t> – оценка методом наименьших квадратов для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400" dirty="0"/>
                  <a:t> 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/>
                  <a:t> определено, как и ранее. Случайная величина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– это оценка дисперсии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 b="-52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4577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 для свободного члена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spcAft>
                    <a:spcPts val="800"/>
                  </a:spcAft>
                </a:pPr>
                <a:r>
                  <a:rPr lang="ru-RU" sz="2400" dirty="0"/>
                  <a:t>Мы сравниваем оценку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</m:oMath>
                </a14:m>
                <a:r>
                  <a:rPr lang="ru-RU" sz="2400" dirty="0"/>
                  <a:t> со значением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и стандартизируем путем деления на оценку для стандартного отклонения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2400" dirty="0"/>
                  <a:t>, близкие к нулю, свидетельствуют в пользу нулевой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Большие положительные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2400" dirty="0"/>
                  <a:t> предполагают,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, тогда как большие отрицательные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2400" dirty="0"/>
                  <a:t> предполагают, что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/>
                  <a:t>Как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400" dirty="0"/>
                  <a:t>, в случае нормальных ошибок тестовая статистика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2400" dirty="0"/>
                  <a:t> имеет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ru-RU" sz="2400" dirty="0"/>
                  <a:t> распределение при нулевой гипотезе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 r="-1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4737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 для свободного члена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Существуют физические причины не учитывать свободный член.</a:t>
                </a:r>
              </a:p>
              <a:p>
                <a:r>
                  <a:rPr lang="ru-RU" sz="2400" dirty="0"/>
                  <a:t>Мы хотим выяснить, подтверждается ли это данными. С этой целью мы моделируем данные с помощью простой модели линейной регрессии с перехватом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ru-RU" sz="2400">
                          <a:latin typeface="Cambria Math" panose="02040503050406030204" pitchFamily="18" charset="0"/>
                        </a:rPr>
                        <m:t>для   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=1, 2,… ,31,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ru-RU" sz="2400" dirty="0"/>
                  <a:t> – случайная выборка из распределения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0, </m:t>
                        </m:r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400" dirty="0"/>
                  <a:t>, и мы проверяем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/>
                  <a:t>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sz="2400" dirty="0"/>
                  <a:t> на уровне 0.1.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 r="-9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2544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 для свободного члена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31" y="992760"/>
                <a:ext cx="10221537" cy="782314"/>
              </a:xfrm>
              <a:prstGeom prst="rect">
                <a:avLst/>
              </a:prstGeom>
              <a:blipFill>
                <a:blip r:embed="rId3"/>
                <a:stretch>
                  <a:fillRect t="-21875" b="-15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r>
                  <a:rPr lang="ru-RU" sz="2400" dirty="0"/>
                  <a:t>Значение тестовой статистики равно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ru-RU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0.2977</m:t>
                          </m:r>
                        </m:num>
                        <m:den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0.9636</m:t>
                          </m:r>
                        </m:den>
                      </m:f>
                      <m:r>
                        <a:rPr lang="ru-RU" sz="2400">
                          <a:latin typeface="Cambria Math" panose="02040503050406030204" pitchFamily="18" charset="0"/>
                        </a:rPr>
                        <m:t>=−0.3089,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а левое критическое значение равно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29,0.05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=−1.699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r>
                  <a:rPr lang="ru-RU" sz="2400" dirty="0"/>
                  <a:t>Это означает, что мы не можем отвергнуть нулевую гипотезу.</a:t>
                </a:r>
              </a:p>
              <a:p>
                <a:r>
                  <a:rPr lang="ru-RU" sz="2400" dirty="0"/>
                  <a:t>Данные не дают достаточных доказательств против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: 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/>
                  <a:t>, что подтверждается односторонним значением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≤−0.3089</m:t>
                        </m:r>
                      </m:e>
                    </m:d>
                    <m:r>
                      <a:rPr lang="ru-RU" sz="2400">
                        <a:latin typeface="Cambria Math" panose="02040503050406030204" pitchFamily="18" charset="0"/>
                      </a:rPr>
                      <m:t>=0.3798</m:t>
                    </m:r>
                  </m:oMath>
                </a14:m>
                <a:r>
                  <a:rPr lang="ru-RU" sz="2400" dirty="0"/>
                  <a:t> (вычисленным с помощью статистического пакета). Мы приходим к выводу, что свободный член не вносит существенного вклада в модель.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72" y="2001540"/>
                <a:ext cx="10226675" cy="3738219"/>
              </a:xfrm>
              <a:prstGeom prst="rect">
                <a:avLst/>
              </a:prstGeom>
              <a:blipFill>
                <a:blip r:embed="rId4"/>
                <a:stretch>
                  <a:fillRect l="-954"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9310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82662" y="2205039"/>
            <a:ext cx="10226675" cy="36718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2F559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000" spc="100" dirty="0">
              <a:solidFill>
                <a:schemeClr val="tx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987799" y="990503"/>
                <a:ext cx="10221537" cy="9263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en-US" sz="4000" i="1" spc="100" dirty="0" smtClean="0">
                        <a:solidFill>
                          <a:srgbClr val="246AF3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light" panose="020B0402040204020203" pitchFamily="34" charset="0"/>
                      </a:rPr>
                      <m:t>𝑡</m:t>
                    </m:r>
                  </m:oMath>
                </a14:m>
                <a:r>
                  <a:rPr lang="en-US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ru-RU" sz="4000" spc="100" dirty="0">
                    <a:solidFill>
                      <a:srgbClr val="246AF3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Semilight" panose="020B0402040204020203" pitchFamily="34" charset="0"/>
                  </a:rPr>
                  <a:t>критерий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99" y="990503"/>
                <a:ext cx="10221537" cy="926330"/>
              </a:xfrm>
              <a:prstGeom prst="rect">
                <a:avLst/>
              </a:prstGeom>
              <a:blipFill>
                <a:blip r:embed="rId2"/>
                <a:stretch>
                  <a:fillRect t="-184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2187" y="2011065"/>
                <a:ext cx="10226675" cy="34560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ru-RU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sz="2800">
                    <a:latin typeface="Segoe UI" panose="020B0502040204020203" pitchFamily="34" charset="0"/>
                    <a:ea typeface="+mj-ea"/>
                    <a:cs typeface="Segoe UI" panose="020B0502040204020203" pitchFamily="34" charset="0"/>
                  </a:defRPr>
                </a:lvl1pPr>
              </a:lstStyle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-критерий с одной выборкой.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Нормальные данные.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Ненормальные данные.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:r>
                  <a:rPr lang="ru-RU" sz="2400" dirty="0"/>
                  <a:t>Большие выборки.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-критерий в регрессионной установке.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24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-тест для углового коэффициента.</a:t>
                </a:r>
              </a:p>
              <a:p>
                <a:pPr>
                  <a:lnSpc>
                    <a:spcPct val="8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2400" dirty="0"/>
                  <a:t>-критерий для свободного члена.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87" y="2011065"/>
                <a:ext cx="10226675" cy="3456037"/>
              </a:xfrm>
              <a:prstGeom prst="rect">
                <a:avLst/>
              </a:prstGeom>
              <a:blipFill>
                <a:blip r:embed="rId3"/>
                <a:stretch>
                  <a:fillRect l="-954" t="-33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65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02A613E-02D3-4191-ACCC-97EAB3767AB7}"/>
  <p:tag name="ISPRING_RESOURCE_FOLDER" val="C:\Users\Alexander.Kozlov.SCHOOL\Google Drive\ИПС\Учебный процесс\Подготовительные курсы\Лекции\Лекция 1. Натуральные числа\Базовый тип данных. Натуральные числа\"/>
  <p:tag name="ISPRING_PRESENTATION_PATH" val="C:\Users\Alexander.Kozlov.SCHOOL\Google Drive\ИПС\Учебный процесс\Подготовительные курсы\Лекции\Лекция 1. Натуральные числа\Базовый тип данных. Натуральные числа.pptx"/>
  <p:tag name="ISPRING_PROJECT_FOLDER_UPDATED" val="1"/>
  <p:tag name="ISPRING_SCREEN_RECS_UPDATED" val="C:\Users\Alexander.Kozlov.SCHOOL\Google Drive\ИПС\Учебный процесс\Подготовительные курсы\Лекции\Лекция 1. Натуральные числа\Базовый тип данных. Натуральные числа\"/>
</p:tagLst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TM02900722[[fn=Совет директоров]]</Template>
  <TotalTime>19403</TotalTime>
  <Words>2649</Words>
  <Application>Microsoft Office PowerPoint</Application>
  <PresentationFormat>Широкоэкранный</PresentationFormat>
  <Paragraphs>289</Paragraphs>
  <Slides>52</Slides>
  <Notes>51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52</vt:i4>
      </vt:variant>
    </vt:vector>
  </HeadingPairs>
  <TitlesOfParts>
    <vt:vector size="63" baseType="lpstr">
      <vt:lpstr>Calibri</vt:lpstr>
      <vt:lpstr>Calibri Light</vt:lpstr>
      <vt:lpstr>Cambria Math</vt:lpstr>
      <vt:lpstr>Segoe UI</vt:lpstr>
      <vt:lpstr>Segoe UI Black</vt:lpstr>
      <vt:lpstr>Segoe UI Semilight</vt:lpstr>
      <vt:lpstr>Wingdings 2</vt:lpstr>
      <vt:lpstr>HDOfficeLightV0</vt:lpstr>
      <vt:lpstr>1_HDOfficeLightV0</vt:lpstr>
      <vt:lpstr>2_HDOfficeLightV0</vt:lpstr>
      <vt:lpstr>3_HDOfficeLightV0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Krokoz™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Базовый тип данных. Натуральные числа</dc:title>
  <dc:creator>Alexander</dc:creator>
  <cp:lastModifiedBy>Alexander Kozlov</cp:lastModifiedBy>
  <cp:revision>718</cp:revision>
  <dcterms:created xsi:type="dcterms:W3CDTF">2016-01-11T07:19:05Z</dcterms:created>
  <dcterms:modified xsi:type="dcterms:W3CDTF">2024-05-13T08:28:54Z</dcterms:modified>
</cp:coreProperties>
</file>