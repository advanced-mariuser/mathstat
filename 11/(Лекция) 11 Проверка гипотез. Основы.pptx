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  <p:sldMasterId id="2147483888" r:id="rId2"/>
    <p:sldMasterId id="2147483924" r:id="rId3"/>
    <p:sldMasterId id="2147483936" r:id="rId4"/>
  </p:sldMasterIdLst>
  <p:notesMasterIdLst>
    <p:notesMasterId r:id="rId45"/>
  </p:notesMasterIdLst>
  <p:sldIdLst>
    <p:sldId id="648" r:id="rId5"/>
    <p:sldId id="706" r:id="rId6"/>
    <p:sldId id="1052" r:id="rId7"/>
    <p:sldId id="948" r:id="rId8"/>
    <p:sldId id="1053" r:id="rId9"/>
    <p:sldId id="1016" r:id="rId10"/>
    <p:sldId id="1017" r:id="rId11"/>
    <p:sldId id="1018" r:id="rId12"/>
    <p:sldId id="1054" r:id="rId13"/>
    <p:sldId id="1055" r:id="rId14"/>
    <p:sldId id="1056" r:id="rId15"/>
    <p:sldId id="1019" r:id="rId16"/>
    <p:sldId id="1020" r:id="rId17"/>
    <p:sldId id="1021" r:id="rId18"/>
    <p:sldId id="1057" r:id="rId19"/>
    <p:sldId id="1058" r:id="rId20"/>
    <p:sldId id="1059" r:id="rId21"/>
    <p:sldId id="1060" r:id="rId22"/>
    <p:sldId id="1061" r:id="rId23"/>
    <p:sldId id="1062" r:id="rId24"/>
    <p:sldId id="1063" r:id="rId25"/>
    <p:sldId id="1022" r:id="rId26"/>
    <p:sldId id="1064" r:id="rId27"/>
    <p:sldId id="1023" r:id="rId28"/>
    <p:sldId id="1065" r:id="rId29"/>
    <p:sldId id="1066" r:id="rId30"/>
    <p:sldId id="1029" r:id="rId31"/>
    <p:sldId id="1030" r:id="rId32"/>
    <p:sldId id="1067" r:id="rId33"/>
    <p:sldId id="1031" r:id="rId34"/>
    <p:sldId id="1032" r:id="rId35"/>
    <p:sldId id="1068" r:id="rId36"/>
    <p:sldId id="1069" r:id="rId37"/>
    <p:sldId id="1070" r:id="rId38"/>
    <p:sldId id="1034" r:id="rId39"/>
    <p:sldId id="1071" r:id="rId40"/>
    <p:sldId id="1072" r:id="rId41"/>
    <p:sldId id="1073" r:id="rId42"/>
    <p:sldId id="1074" r:id="rId43"/>
    <p:sldId id="708" r:id="rId44"/>
  </p:sldIdLst>
  <p:sldSz cx="12192000" cy="6858000"/>
  <p:notesSz cx="6858000" cy="9144000"/>
  <p:custDataLst>
    <p:tags r:id="rId46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9" userDrawn="1">
          <p15:clr>
            <a:srgbClr val="A4A3A4"/>
          </p15:clr>
        </p15:guide>
        <p15:guide id="2" pos="2479" userDrawn="1">
          <p15:clr>
            <a:srgbClr val="A4A3A4"/>
          </p15:clr>
        </p15:guide>
        <p15:guide id="3" pos="5201" userDrawn="1">
          <p15:clr>
            <a:srgbClr val="A4A3A4"/>
          </p15:clr>
        </p15:guide>
        <p15:guide id="4" orient="horz" pos="2886" userDrawn="1">
          <p15:clr>
            <a:srgbClr val="A4A3A4"/>
          </p15:clr>
        </p15:guide>
        <p15:guide id="5" pos="619" userDrawn="1">
          <p15:clr>
            <a:srgbClr val="A4A3A4"/>
          </p15:clr>
        </p15:guide>
        <p15:guide id="6" orient="horz" pos="618" userDrawn="1">
          <p15:clr>
            <a:srgbClr val="A4A3A4"/>
          </p15:clr>
        </p15:guide>
        <p15:guide id="7" orient="horz" pos="3702" userDrawn="1">
          <p15:clr>
            <a:srgbClr val="A4A3A4"/>
          </p15:clr>
        </p15:guide>
        <p15:guide id="8" pos="7061" userDrawn="1">
          <p15:clr>
            <a:srgbClr val="A4A3A4"/>
          </p15:clr>
        </p15:guide>
        <p15:guide id="9" orient="horz" pos="125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ander" initials="A" lastIdx="1" clrIdx="0">
    <p:extLst>
      <p:ext uri="{19B8F6BF-5375-455C-9EA6-DF929625EA0E}">
        <p15:presenceInfo xmlns:p15="http://schemas.microsoft.com/office/powerpoint/2012/main" userId="Alexand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6AF3"/>
    <a:srgbClr val="F36324"/>
    <a:srgbClr val="E6E6E6"/>
    <a:srgbClr val="2469F0"/>
    <a:srgbClr val="4C6FB3"/>
    <a:srgbClr val="7270F5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Средний стиль 3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Средний стиль 3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Средний стиль 3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68" autoAdjust="0"/>
    <p:restoredTop sz="83245" autoAdjust="0"/>
  </p:normalViewPr>
  <p:slideViewPr>
    <p:cSldViewPr>
      <p:cViewPr varScale="1">
        <p:scale>
          <a:sx n="53" d="100"/>
          <a:sy n="53" d="100"/>
        </p:scale>
        <p:origin x="996" y="44"/>
      </p:cViewPr>
      <p:guideLst>
        <p:guide orient="horz" pos="1389"/>
        <p:guide pos="2479"/>
        <p:guide pos="5201"/>
        <p:guide orient="horz" pos="2886"/>
        <p:guide pos="619"/>
        <p:guide orient="horz" pos="618"/>
        <p:guide orient="horz" pos="3702"/>
        <p:guide pos="7061"/>
        <p:guide orient="horz" pos="125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gs" Target="tags/tag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AE29CD-DFFE-4B5B-8905-980ED44A5828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A5B5A-6157-4C6B-81CD-B2369B36DEB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1830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79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45343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55131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0090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4047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38563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27801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60420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98024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46743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17842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12969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42111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60497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80269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41332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3359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1150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46821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56278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70449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0642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38099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76353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71616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00455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3930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07581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08314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28579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80648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75813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573958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518093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173948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78277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529151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407870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9229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8837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9382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5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239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3704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2"/>
            <a:ext cx="5156200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7552"/>
            <a:ext cx="5181601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567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663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2346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2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882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8831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090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0362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0364"/>
            <a:ext cx="7734300" cy="581183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99317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28652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92052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5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41802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08823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2"/>
            <a:ext cx="5156200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7552"/>
            <a:ext cx="5181601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0595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3467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21591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2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13685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4247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30324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0362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0364"/>
            <a:ext cx="7734300" cy="581183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71106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83299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20913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5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89839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54152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2"/>
            <a:ext cx="5156200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7552"/>
            <a:ext cx="5181601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5533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4115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80348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2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91979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84010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38141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0362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0364"/>
            <a:ext cx="7734300" cy="581183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401962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778379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744351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5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49948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000804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2"/>
            <a:ext cx="5156200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7552"/>
            <a:ext cx="5181601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1154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09787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92047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2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09990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1060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61642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0362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0364"/>
            <a:ext cx="7734300" cy="581183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2654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2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4858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2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3688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2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4510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2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335DC4E-A1CF-430A-8D57-A008F2673564}" type="datetimeFigureOut">
              <a:rPr lang="ru-RU" smtClean="0"/>
              <a:pPr/>
              <a:t>22.04.2024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430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B3BAA14-9C0F-4D1F-9B17-483C8E7EA6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8FEE38D-D8FA-444B-97D1-1178CA8AA50A}"/>
              </a:ext>
            </a:extLst>
          </p:cNvPr>
          <p:cNvSpPr/>
          <p:nvPr/>
        </p:nvSpPr>
        <p:spPr>
          <a:xfrm>
            <a:off x="-19672" y="0"/>
            <a:ext cx="12192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6FE7900-16B0-4943-81C0-E2A7A9CD937E}"/>
              </a:ext>
            </a:extLst>
          </p:cNvPr>
          <p:cNvSpPr txBox="1">
            <a:spLocks/>
          </p:cNvSpPr>
          <p:nvPr/>
        </p:nvSpPr>
        <p:spPr>
          <a:xfrm>
            <a:off x="983432" y="1717920"/>
            <a:ext cx="8424936" cy="149505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spc="100" dirty="0">
                <a:solidFill>
                  <a:srgbClr val="2469F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11 Проверка гипотез. Основы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878132-2275-4C07-8C17-DD492C424319}"/>
              </a:ext>
            </a:extLst>
          </p:cNvPr>
          <p:cNvSpPr txBox="1"/>
          <p:nvPr/>
        </p:nvSpPr>
        <p:spPr>
          <a:xfrm>
            <a:off x="994695" y="3428998"/>
            <a:ext cx="7261894" cy="1872209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ru-RU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ru-RU" sz="2000" dirty="0"/>
              <a:t>Выбор между двумя противоречивыми теориями</a:t>
            </a:r>
            <a:br>
              <a:rPr lang="en-US" sz="2000" dirty="0"/>
            </a:br>
            <a:r>
              <a:rPr lang="ru-RU" sz="2000" dirty="0"/>
              <a:t>или гипотезами</a:t>
            </a:r>
          </a:p>
        </p:txBody>
      </p:sp>
    </p:spTree>
    <p:extLst>
      <p:ext uri="{BB962C8B-B14F-4D97-AF65-F5344CB8AC3E}">
        <p14:creationId xmlns:p14="http://schemas.microsoft.com/office/powerpoint/2010/main" val="1555754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Гипотезы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3172" y="2209538"/>
            <a:ext cx="10226675" cy="3738219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ru-RU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 marL="457200" indent="-457200">
              <a:buAutoNum type="arabicPeriod"/>
            </a:pPr>
            <a:r>
              <a:rPr lang="ru-RU" sz="2400" dirty="0">
                <a:ea typeface="Calibri" panose="020F0502020204030204" pitchFamily="34" charset="0"/>
              </a:rPr>
              <a:t>Отличается ли срок службы шарикоподшипников определенного типа от срока службы, гарантированного производителем подшипников;</a:t>
            </a:r>
          </a:p>
          <a:p>
            <a:pPr marL="457200" indent="-457200">
              <a:buAutoNum type="arabicPeriod"/>
            </a:pPr>
            <a:r>
              <a:rPr lang="ru-RU" sz="2400" dirty="0">
                <a:ea typeface="Calibri" panose="020F0502020204030204" pitchFamily="34" charset="0"/>
              </a:rPr>
              <a:t>Быстрее ли сверление сухим способом чем сверление сырым способом;</a:t>
            </a:r>
          </a:p>
          <a:p>
            <a:pPr marL="457200" indent="-457200">
              <a:buAutoNum type="arabicPeriod"/>
            </a:pPr>
            <a:r>
              <a:rPr lang="ru-RU" sz="2400" dirty="0">
                <a:ea typeface="Calibri" panose="020F0502020204030204" pitchFamily="34" charset="0"/>
              </a:rPr>
              <a:t>Влияет ли курение или не влияет на вероятность забеременеть;</a:t>
            </a:r>
          </a:p>
          <a:p>
            <a:pPr marL="457200" indent="-457200">
              <a:buAutoNum type="arabicPeriod"/>
            </a:pPr>
            <a:r>
              <a:rPr lang="ru-RU" sz="2400" dirty="0">
                <a:ea typeface="Calibri" panose="020F0502020204030204" pitchFamily="34" charset="0"/>
              </a:rPr>
              <a:t>Равно ли военное производство Германии или меньше того, о чем сообщали разведывательные службы союзников.</a:t>
            </a:r>
            <a:endParaRPr lang="en-US" sz="2400" dirty="0"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309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7030" y="1999350"/>
            <a:ext cx="10221538" cy="178969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Нулевая гипотеза и тестовая статистика</a:t>
            </a:r>
          </a:p>
        </p:txBody>
      </p:sp>
    </p:spTree>
    <p:extLst>
      <p:ext uri="{BB962C8B-B14F-4D97-AF65-F5344CB8AC3E}">
        <p14:creationId xmlns:p14="http://schemas.microsoft.com/office/powerpoint/2010/main" val="1839622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Немецкое военное производство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3172" y="2209538"/>
            <a:ext cx="10226675" cy="3738219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ru-RU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ru-RU" sz="2400" dirty="0"/>
              <a:t>Во время Второй мировой войны союзные войска получали сведения разведывательных служб союзников о немецком военном производстве.</a:t>
            </a:r>
          </a:p>
          <a:p>
            <a:r>
              <a:rPr lang="ru-RU" sz="2400" dirty="0"/>
              <a:t>Количество произведенных шин, танков и другого оборудования, заявленное в этих отчетах, было намного больше, чем указано</a:t>
            </a:r>
            <a:br>
              <a:rPr lang="ru-RU" sz="2400" dirty="0"/>
            </a:br>
            <a:r>
              <a:rPr lang="ru-RU" sz="2400" dirty="0"/>
              <a:t>в наблюдаемых серийных номерах.</a:t>
            </a:r>
            <a:endParaRPr lang="en-US" sz="2400" dirty="0"/>
          </a:p>
          <a:p>
            <a:r>
              <a:rPr lang="ru-RU" sz="2400" dirty="0"/>
              <a:t>Цель состояла в том, чтобы решить, были ли фактические произведенные количества меньше заявленных.</a:t>
            </a:r>
          </a:p>
        </p:txBody>
      </p:sp>
    </p:spTree>
    <p:extLst>
      <p:ext uri="{BB962C8B-B14F-4D97-AF65-F5344CB8AC3E}">
        <p14:creationId xmlns:p14="http://schemas.microsoft.com/office/powerpoint/2010/main" val="1621706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Танки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3172" y="2209538"/>
            <a:ext cx="10226675" cy="3738219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ru-RU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dirty="0"/>
              <a:t>Предположим, что мы наблюдали танки с (перекодированными) серийными номерами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400" dirty="0"/>
              <a:t>61 19 56 24 16.</a:t>
            </a:r>
          </a:p>
          <a:p>
            <a:r>
              <a:rPr lang="ru-RU" sz="2400" dirty="0"/>
              <a:t>Кроме того, предположим, что разведывательные службы союзников сообщают о производстве 350 танков.</a:t>
            </a:r>
          </a:p>
          <a:p>
            <a:r>
              <a:rPr lang="ru-RU" sz="2400" dirty="0"/>
              <a:t>Это намного больше, чем мы могли бы предположить</a:t>
            </a:r>
            <a:br>
              <a:rPr lang="ru-RU" sz="2400" dirty="0"/>
            </a:br>
            <a:r>
              <a:rPr lang="ru-RU" sz="2400" dirty="0"/>
              <a:t>по наблюдаемым данным.</a:t>
            </a:r>
          </a:p>
        </p:txBody>
      </p:sp>
    </p:spTree>
    <p:extLst>
      <p:ext uri="{BB962C8B-B14F-4D97-AF65-F5344CB8AC3E}">
        <p14:creationId xmlns:p14="http://schemas.microsoft.com/office/powerpoint/2010/main" val="658721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Танки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sz="2400" dirty="0"/>
                  <a:t>Мы хотим выбрать между утверждением, что общее количество танков равно 350, и утверждением, что общее число меньше 350.</a:t>
                </a:r>
              </a:p>
              <a:p>
                <a:r>
                  <a:rPr lang="ru-RU" sz="2400" dirty="0"/>
                  <a:t>Два конкурирующих утверждения называются </a:t>
                </a:r>
                <a:r>
                  <a:rPr lang="ru-RU" sz="2400" dirty="0">
                    <a:solidFill>
                      <a:srgbClr val="246AF3"/>
                    </a:solidFill>
                  </a:rPr>
                  <a:t>нулевой гипотезой</a:t>
                </a:r>
                <a:r>
                  <a:rPr lang="ru-RU" sz="2400" dirty="0"/>
                  <a:t>, обозначаемой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, и </a:t>
                </a:r>
                <a:r>
                  <a:rPr lang="ru-RU" sz="2400" dirty="0">
                    <a:solidFill>
                      <a:srgbClr val="246AF3"/>
                    </a:solidFill>
                  </a:rPr>
                  <a:t>альтернативной гипотезой</a:t>
                </a:r>
                <a:r>
                  <a:rPr lang="ru-RU" sz="2400" dirty="0"/>
                  <a:t>, обозначаемой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2400" dirty="0"/>
                  <a:t>. 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21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6932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Гипотезы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sz="2400" dirty="0">
                    <a:ea typeface="Calibri" panose="020F0502020204030204" pitchFamily="34" charset="0"/>
                  </a:rPr>
                  <a:t>Выбор между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 аналогичен тому, как присяжные заседают в судебном процессе.</a:t>
                </a:r>
              </a:p>
              <a:p>
                <a:r>
                  <a:rPr lang="ru-RU" sz="2400" dirty="0">
                    <a:ea typeface="Calibri" panose="020F0502020204030204" pitchFamily="34" charset="0"/>
                  </a:rPr>
                  <a:t>Нулевая гипотеза соответствует позиции обвиняемого: точно так же, как предполагается, что он невиновен, пока вина не доказана, так и </a:t>
                </a:r>
                <a:r>
                  <a:rPr lang="ru-RU" sz="2400" dirty="0">
                    <a:solidFill>
                      <a:srgbClr val="246AF3"/>
                    </a:solidFill>
                    <a:ea typeface="Calibri" panose="020F0502020204030204" pitchFamily="34" charset="0"/>
                  </a:rPr>
                  <a:t>нулевая гипотеза считается верной, пока данные не предоставят убедительных доказательств против нее</a:t>
                </a:r>
                <a:r>
                  <a:rPr lang="ru-RU" sz="2400" dirty="0">
                    <a:ea typeface="Calibri" panose="020F0502020204030204" pitchFamily="34" charset="0"/>
                  </a:rPr>
                  <a:t>.</a:t>
                </a:r>
              </a:p>
              <a:p>
                <a:r>
                  <a:rPr lang="ru-RU" sz="2400" dirty="0">
                    <a:ea typeface="Calibri" panose="020F0502020204030204" pitchFamily="34" charset="0"/>
                  </a:rPr>
                  <a:t>Альтернативная гипотеза соответствует обвинениям, выдвинутым против обвиняемого.</a:t>
                </a:r>
              </a:p>
              <a:p>
                <a:endParaRPr lang="ru-RU" sz="2400" dirty="0"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21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169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Доказательство против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b="0" i="1" spc="100" smtClean="0">
                            <a:solidFill>
                              <a:srgbClr val="246AF3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light" panose="020B0402040204020203" pitchFamily="34" charset="0"/>
                          </a:rPr>
                        </m:ctrlPr>
                      </m:sSubPr>
                      <m:e>
                        <m:r>
                          <a:rPr lang="en-US" sz="4000" b="0" i="1" spc="100" smtClean="0">
                            <a:solidFill>
                              <a:srgbClr val="246AF3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light" panose="020B0402040204020203" pitchFamily="34" charset="0"/>
                          </a:rPr>
                          <m:t>𝐻</m:t>
                        </m:r>
                      </m:e>
                      <m:sub>
                        <m:r>
                          <a:rPr lang="en-US" sz="4000" b="0" i="1" spc="100" smtClean="0">
                            <a:solidFill>
                              <a:srgbClr val="246AF3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light" panose="020B0402040204020203" pitchFamily="34" charset="0"/>
                          </a:rPr>
                          <m:t>0</m:t>
                        </m:r>
                      </m:sub>
                    </m:sSub>
                  </m:oMath>
                </a14:m>
                <a:endParaRPr lang="ru-RU" sz="4000" spc="100" dirty="0">
                  <a:solidFill>
                    <a:srgbClr val="246AF3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Semilight" panose="020B0402040204020203" pitchFamily="34" charset="0"/>
                </a:endParaRP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  <a:blipFill>
                <a:blip r:embed="rId3"/>
                <a:stretch>
                  <a:fillRect l="-2087" t="-21875" b="-156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>
                    <a:ea typeface="Calibri" panose="020F0502020204030204" pitchFamily="34" charset="0"/>
                  </a:rPr>
                  <a:t>Решение «является 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 ложным» принимается на основе статистической модели.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4"/>
                <a:stretch>
                  <a:fillRect l="-954" t="-13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5005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Танки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>
                    <a:ea typeface="Calibri" panose="020F0502020204030204" pitchFamily="34" charset="0"/>
                  </a:rPr>
                  <a:t>Перекодированные серийные номера моделируются как реализация случайных величин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𝑋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 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𝑋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,…,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𝑋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, представляющих выбор пяти чисел без повторов из чисел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1, 2,…,</m:t>
                    </m:r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>
                    <a:ea typeface="Calibri" panose="020F0502020204030204" pitchFamily="34" charset="0"/>
                  </a:rPr>
                  <a:t>Параметр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 представляет общее количество танков.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>
                    <a:ea typeface="Calibri" panose="020F0502020204030204" pitchFamily="34" charset="0"/>
                  </a:rPr>
                  <a:t>Две рассматриваемые гипотезы таковы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ru-RU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0</m:t>
                          </m:r>
                        </m:sub>
                      </m:sSub>
                      <m:r>
                        <a:rPr lang="ru-RU" sz="240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: </m:t>
                      </m:r>
                      <m:r>
                        <a:rPr lang="ru-RU" sz="240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𝑁</m:t>
                      </m:r>
                      <m:r>
                        <a:rPr lang="ru-RU" sz="240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=350</m:t>
                      </m:r>
                    </m:oMath>
                  </m:oMathPara>
                </a14:m>
                <a:endParaRPr lang="ru-RU" sz="2400" dirty="0">
                  <a:ea typeface="Calibri" panose="020F0502020204030204" pitchFamily="34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ru-RU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</m:t>
                          </m:r>
                        </m:sub>
                      </m:sSub>
                      <m:r>
                        <a:rPr lang="ru-RU" sz="240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:</m:t>
                      </m:r>
                      <m:r>
                        <a:rPr lang="ru-RU" sz="240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𝑁</m:t>
                      </m:r>
                      <m:r>
                        <a:rPr lang="ru-RU" sz="240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&lt;350.</m:t>
                      </m:r>
                    </m:oMath>
                  </m:oMathPara>
                </a14:m>
                <a:endParaRPr lang="ru-RU" sz="2400" dirty="0">
                  <a:ea typeface="Calibri" panose="020F0502020204030204" pitchFamily="34" charset="0"/>
                </a:endParaRPr>
              </a:p>
              <a:p>
                <a:endParaRPr lang="ru-RU" sz="2400" dirty="0"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4565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Альтернативная гипотеза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>
                    <a:ea typeface="Calibri" panose="020F0502020204030204" pitchFamily="34" charset="0"/>
                  </a:rPr>
                  <a:t>Если мы отвергнем нулевую гипотезу, мы примем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; мы говорим об отказе от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 в пользу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>
                    <a:ea typeface="Calibri" panose="020F0502020204030204" pitchFamily="34" charset="0"/>
                  </a:rPr>
                  <a:t>Мы должны тщательно выбирать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 в соответствии с нашими интересами в рассматриваемой задаче.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8168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Альтернативная гипотеза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>
                    <a:ea typeface="Calibri" panose="020F0502020204030204" pitchFamily="34" charset="0"/>
                  </a:rPr>
                  <a:t>В нашем примере нас интересует, меньше ли количество танков 350; поэтому мы проверяем нулевую гипотезу на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 </m:t>
                    </m:r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&lt;350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. 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>
                    <a:ea typeface="Calibri" panose="020F0502020204030204" pitchFamily="34" charset="0"/>
                  </a:rPr>
                  <a:t>Если бы нас интересовало, отличается ли количество танков от 350 или больше 350, мы бы протестировали на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≠350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 или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</m:t>
                    </m:r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&gt;350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7324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Выбор критерия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Следующим шагом является выбор критерия, основанного</a:t>
                </a:r>
                <a:br>
                  <a:rPr lang="ru-RU" sz="2400" dirty="0"/>
                </a:br>
                <a:r>
                  <a:rPr lang="ru-RU" sz="2400" dirty="0"/>
                  <a:t>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ru-RU" sz="2400" dirty="0"/>
                  <a:t>, который дает представление о том, является</a:t>
                </a:r>
                <a:br>
                  <a:rPr lang="ru-RU" sz="2400" dirty="0"/>
                </a:br>
                <a:r>
                  <a:rPr lang="ru-RU" sz="2400" dirty="0"/>
                  <a:t>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 ложной.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Такой критерий включает тестовую статистику.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2281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Тестовая статистика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Предположим, что набор данных моделируется как реализация случайных величин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400" dirty="0"/>
                  <a:t>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>
                    <a:solidFill>
                      <a:srgbClr val="246AF3"/>
                    </a:solidFill>
                  </a:rPr>
                  <a:t>Тестовая статистика</a:t>
                </a:r>
                <a:r>
                  <a:rPr lang="ru-RU" sz="2400" dirty="0"/>
                  <a:t> – это любая выборочная статистика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,…, 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ru-RU" sz="2400" b="0" i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400" dirty="0"/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числовое значение которой используется для принятия решения</a:t>
                </a:r>
                <a:br>
                  <a:rPr lang="ru-RU" sz="2400" dirty="0"/>
                </a:br>
                <a:r>
                  <a:rPr lang="ru-RU" sz="2400" dirty="0"/>
                  <a:t>о том, отклоняем ли мы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5774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Танки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В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/>
                  <a:t>примере с танками мы используем тестовую статистику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sz="240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,…, </m:t>
                              </m:r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ru-RU" sz="2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8015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Танки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Выбрав тестовую статистику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ru-RU" sz="2400" dirty="0"/>
                  <a:t>, мы исследуем, каких значений может достичь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ru-RU" sz="2400" dirty="0"/>
                  <a:t>. Эти значения можно рассматривать по шкале достоверности для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, и мы должны определить, какие из этих значений свидетельствуют в пользу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, а какие – в пользу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2400" dirty="0"/>
                  <a:t>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8133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Танки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74242" y="2205039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Если мы найдем значение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ru-RU" sz="2400" dirty="0"/>
                  <a:t> больше 350, мы сразу узнаем, что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, так же, как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2400" dirty="0"/>
                  <a:t>, являются ложными. Если это произойдет, нам на самом деле следует рассмотреть другую задачу тестирования.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Для текущей задачи тестирования</a:t>
                </a:r>
                <a14:m>
                  <m:oMath xmlns:m="http://schemas.openxmlformats.org/officeDocument/2006/math">
                    <m:r>
                      <a:rPr lang="ru-RU" sz="24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: 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𝑁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=350</m:t>
                    </m:r>
                  </m:oMath>
                </a14:m>
                <a:r>
                  <a:rPr lang="ru-RU" sz="2400" dirty="0"/>
                  <a:t> против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: 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𝑁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&lt;350</m:t>
                    </m:r>
                  </m:oMath>
                </a14:m>
                <a:r>
                  <a:rPr lang="ru-RU" sz="2400" dirty="0"/>
                  <a:t> такие значения не имеют значения.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Возможными значениями T, представляющими для нас интерес, являются целые числа от 5 до 350.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242" y="2205039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55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Танки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 истинно, то какое значение является типичным для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ru-RU" sz="2400" dirty="0"/>
                  <a:t>,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а какое нет? 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9485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Танки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Поскольку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ru-RU" sz="2400" dirty="0"/>
                  <a:t>, математическое ожидание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ru-RU" sz="2400" dirty="0"/>
                  <a:t> равно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]=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ru-RU" sz="24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+1).</m:t>
                      </m:r>
                    </m:oMath>
                  </m:oMathPara>
                </a14:m>
                <a:endParaRPr lang="ru-RU" sz="2400" dirty="0"/>
              </a:p>
              <a:p>
                <a:r>
                  <a:rPr lang="ru-RU" sz="2400" dirty="0"/>
                  <a:t>Это означает, что распределение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ru-RU" sz="2400" dirty="0"/>
                  <a:t> сосредоточено вокруг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40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ru-RU" sz="240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ru-RU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𝑁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ru-RU" sz="2400" dirty="0"/>
                  <a:t>. Следовательно, 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 истинно, то типичные значения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ru-RU" sz="2400" dirty="0"/>
                  <a:t> находятся</a:t>
                </a:r>
                <a:br>
                  <a:rPr lang="ru-RU" sz="2400" dirty="0"/>
                </a:br>
                <a:r>
                  <a:rPr lang="ru-RU" sz="2400" dirty="0"/>
                  <a:t>в окрестности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40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ru-RU" sz="240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ru-RU" sz="2400">
                        <a:latin typeface="Cambria Math" panose="02040503050406030204" pitchFamily="18" charset="0"/>
                      </a:rPr>
                      <m:t>⋅351=292.5</m:t>
                    </m:r>
                  </m:oMath>
                </a14:m>
                <a:r>
                  <a:rPr lang="ru-RU" sz="2400" dirty="0"/>
                  <a:t>. 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33240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Танки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Значения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ru-RU" sz="2400" dirty="0"/>
                  <a:t>, которые сильно отклоняются от 292.5, свидетельствуют против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Значения, которые намного превышают 292.5, свидетельствуют против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, но дают еще более веские доказательства против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2400" dirty="0"/>
                  <a:t>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1333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Танки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Значения, немного меньшие, чем 292.5, являются основанием</a:t>
                </a:r>
                <a:br>
                  <a:rPr lang="ru-RU" sz="2400" dirty="0"/>
                </a:br>
                <a:r>
                  <a:rPr lang="ru-RU" sz="2400" dirty="0"/>
                  <a:t>не отклонять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, поскольку мы стремимся предоставить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 преимущество.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С другой стороны, значения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ru-RU" sz="2400" dirty="0"/>
                  <a:t>, очень близкие к 5, следует рассматривать как убедительные доказательства против нулевой гипотезы и в пользу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2400" dirty="0"/>
                  <a:t>. 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44939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7030" y="1999350"/>
            <a:ext cx="10221538" cy="178969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Критические значения статистики</a:t>
            </a:r>
          </a:p>
        </p:txBody>
      </p:sp>
    </p:spTree>
    <p:extLst>
      <p:ext uri="{BB962C8B-B14F-4D97-AF65-F5344CB8AC3E}">
        <p14:creationId xmlns:p14="http://schemas.microsoft.com/office/powerpoint/2010/main" val="19569432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Принятие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b="0" i="1" spc="100" smtClean="0">
                            <a:solidFill>
                              <a:srgbClr val="246AF3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light" panose="020B0402040204020203" pitchFamily="34" charset="0"/>
                          </a:rPr>
                        </m:ctrlPr>
                      </m:sSubPr>
                      <m:e>
                        <m:r>
                          <a:rPr lang="en-US" sz="4000" b="0" i="1" spc="100" smtClean="0">
                            <a:solidFill>
                              <a:srgbClr val="246AF3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light" panose="020B0402040204020203" pitchFamily="34" charset="0"/>
                          </a:rPr>
                          <m:t>𝐻</m:t>
                        </m:r>
                      </m:e>
                      <m:sub>
                        <m:r>
                          <a:rPr lang="en-US" sz="4000" b="0" i="1" spc="100" smtClean="0">
                            <a:solidFill>
                              <a:srgbClr val="246AF3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light" panose="020B0402040204020203" pitchFamily="34" charset="0"/>
                          </a:rPr>
                          <m:t>0</m:t>
                        </m:r>
                      </m:sub>
                    </m:sSub>
                  </m:oMath>
                </a14:m>
                <a:endParaRPr lang="ru-RU" sz="4000" spc="100" dirty="0">
                  <a:solidFill>
                    <a:srgbClr val="246AF3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Semilight" panose="020B0402040204020203" pitchFamily="34" charset="0"/>
                </a:endParaRP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  <a:blipFill>
                <a:blip r:embed="rId3"/>
                <a:stretch>
                  <a:fillRect l="-2087" t="-21875" b="-156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 истинно, то типичные значения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ru-RU" sz="2400" dirty="0"/>
                  <a:t> находятся в окрестности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ru-RU" sz="2400">
                          <a:latin typeface="Cambria Math" panose="02040503050406030204" pitchFamily="18" charset="0"/>
                        </a:rPr>
                        <m:t>⋅351=292.5</m:t>
                      </m:r>
                      <m:r>
                        <a:rPr lang="ru-RU" sz="24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Чем больше значение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ru-RU" sz="2400" dirty="0"/>
                  <a:t> смещено влево, тем более убедительные доказательства оно дает в пользу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2400" dirty="0"/>
                  <a:t>.</a:t>
                </a:r>
                <a:endParaRPr lang="en-US" sz="2400" dirty="0"/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Значение </a:t>
                </a:r>
                <a14:m>
                  <m:oMath xmlns:m="http://schemas.openxmlformats.org/officeDocument/2006/math"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61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&lt;292.5</m:t>
                    </m:r>
                  </m:oMath>
                </a14:m>
                <a:r>
                  <a:rPr lang="ru-RU" sz="2400" dirty="0"/>
                  <a:t>. Можем ли мы теперь отбросить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 и заключить, что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sz="2400" dirty="0"/>
                  <a:t> меньше 350, или тот факт, что мы наблюдаем 61 как максимум, можно отнести на счет случайности?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  <a:blipFill>
                <a:blip r:embed="rId4"/>
                <a:stretch>
                  <a:fillRect l="-954" t="-1305" r="-17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5705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Защита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3172" y="2220048"/>
            <a:ext cx="10226675" cy="3738219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ru-RU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dirty="0"/>
              <a:t>В терминологии суда: можем ли мы прийти к выводу, что нулевая гипотеза ложна вне всяких разумных сомнений?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4402484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Танки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>
                    <a:ea typeface="Calibri" panose="020F0502020204030204" pitchFamily="34" charset="0"/>
                  </a:rPr>
                  <a:t>Посчитаем насколько вероятно, что можно было бы наблюдать значение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𝑇</m:t>
                    </m:r>
                    <m:r>
                      <a:rPr lang="ru-RU" sz="2400" b="0" i="0" smtClean="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=61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 в ситуации, когда </a:t>
                </a:r>
                <a14:m>
                  <m:oMath xmlns:m="http://schemas.openxmlformats.org/officeDocument/2006/math">
                    <m:r>
                      <a:rPr lang="ru-RU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  <m:r>
                      <a:rPr lang="ru-RU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= 350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>
                    <a:ea typeface="Calibri" panose="020F0502020204030204" pitchFamily="34" charset="0"/>
                  </a:rPr>
                  <a:t>Если это очень маловероятно, то 61 уже дает веские доказательства против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78242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Танки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>
                    <a:ea typeface="Calibri" panose="020F0502020204030204" pitchFamily="34" charset="0"/>
                  </a:rPr>
                  <a:t>Вычислим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P</m:t>
                    </m:r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𝑇</m:t>
                    </m:r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≤61)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>
                    <a:ea typeface="Calibri" panose="020F0502020204030204" pitchFamily="34" charset="0"/>
                  </a:rPr>
                  <a:t>Для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=350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, тестовая статистика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𝑇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 представляет собой максимум из 5 чисел, взятых без повтора из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1, 2,…, 350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. Получаем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sz="240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P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ru-RU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𝑇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≤61</m:t>
                          </m:r>
                        </m:e>
                      </m:d>
                      <m:r>
                        <a:rPr lang="ru-RU" sz="240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 </m:t>
                      </m:r>
                      <m:r>
                        <a:rPr lang="ru-RU" sz="240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𝑃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ru-RU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ru-RU" sz="24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ru-RU" sz="240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ru-RU" sz="240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,…, </m:t>
                                  </m:r>
                                  <m:sSub>
                                    <m:sSub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5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ru-RU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≤61</m:t>
                          </m:r>
                        </m:e>
                      </m:d>
                      <m:r>
                        <a:rPr lang="ru-RU" sz="240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ru-RU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61</m:t>
                          </m:r>
                        </m:num>
                        <m:den>
                          <m:r>
                            <a:rPr lang="ru-RU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350</m:t>
                          </m:r>
                        </m:den>
                      </m:f>
                      <m:r>
                        <a:rPr lang="ru-RU" sz="240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⋅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ru-RU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60</m:t>
                          </m:r>
                        </m:num>
                        <m:den>
                          <m:r>
                            <a:rPr lang="ru-RU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349</m:t>
                          </m:r>
                        </m:den>
                      </m:f>
                      <m:r>
                        <a:rPr lang="ru-RU" sz="240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⋅…⋅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ru-RU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57</m:t>
                          </m:r>
                        </m:num>
                        <m:den>
                          <m:r>
                            <a:rPr lang="ru-RU" sz="240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346</m:t>
                          </m:r>
                        </m:den>
                      </m:f>
                      <m:r>
                        <a:rPr lang="ru-RU" sz="240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=0.00014.</m:t>
                      </m:r>
                    </m:oMath>
                  </m:oMathPara>
                </a14:m>
                <a:endParaRPr lang="ru-RU" sz="2400" dirty="0">
                  <a:ea typeface="Calibri" panose="020F050202020403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5" r="-8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9299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Танки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>
                    <a:ea typeface="Calibri" panose="020F0502020204030204" pitchFamily="34" charset="0"/>
                  </a:rPr>
                  <a:t>Вероятность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P</m:t>
                    </m:r>
                    <m:d>
                      <m:dPr>
                        <m:ctrlPr>
                          <a:rPr lang="ru-RU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ru-RU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𝑇</m:t>
                        </m:r>
                        <m:r>
                          <a:rPr lang="ru-RU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≤61</m:t>
                        </m:r>
                      </m:e>
                    </m:d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 0.00014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 настолько мала,</a:t>
                </a:r>
                <a:br>
                  <a:rPr lang="ru-RU" sz="2400" dirty="0">
                    <a:ea typeface="Calibri" panose="020F0502020204030204" pitchFamily="34" charset="0"/>
                  </a:rPr>
                </a:br>
                <a:r>
                  <a:rPr lang="ru-RU" sz="2400" dirty="0">
                    <a:ea typeface="Calibri" panose="020F0502020204030204" pitchFamily="34" charset="0"/>
                  </a:rPr>
                  <a:t>что мы рассматриваем значение 61 как убедительное доказательство против нулевой гипотезы.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>
                    <a:ea typeface="Calibri" panose="020F0502020204030204" pitchFamily="34" charset="0"/>
                  </a:rPr>
                  <a:t>Действительно, если нулевая гипотеза была бы верна, то значения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𝑇</m:t>
                    </m:r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, которые давали бы такие же или даже более веские доказательства против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, чем 61, очень маловероятны, т.е. они происходят с вероятностью 0,00014.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>
                    <a:ea typeface="Calibri" panose="020F0502020204030204" pitchFamily="34" charset="0"/>
                  </a:rPr>
                  <a:t>Другими словами, наблюдаемое значение 61 исключительно мало</a:t>
                </a:r>
                <a:br>
                  <a:rPr lang="ru-RU" sz="2400" dirty="0">
                    <a:ea typeface="Calibri" panose="020F0502020204030204" pitchFamily="34" charset="0"/>
                  </a:rPr>
                </a:br>
                <a:r>
                  <a:rPr lang="ru-RU" sz="2400" dirty="0">
                    <a:ea typeface="Calibri" panose="020F0502020204030204" pitchFamily="34" charset="0"/>
                  </a:rPr>
                  <a:t>в случае, 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>
                    <a:ea typeface="Calibri" panose="020F0502020204030204" pitchFamily="34" charset="0"/>
                  </a:rPr>
                  <a:t> истинно.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>
                  <a:ea typeface="Calibri" panose="020F050202020403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5" b="-52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2527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7030" y="1999350"/>
            <a:ext cx="10221538" cy="178969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Ошибки типа I и типа II</a:t>
            </a:r>
          </a:p>
        </p:txBody>
      </p:sp>
    </p:spTree>
    <p:extLst>
      <p:ext uri="{BB962C8B-B14F-4D97-AF65-F5344CB8AC3E}">
        <p14:creationId xmlns:p14="http://schemas.microsoft.com/office/powerpoint/2010/main" val="8870922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Танки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Предположим, что максимальное значение равно 200 вместо 61.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Это также находится слева от ожидаемого значения 292.5 от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ru-RU" sz="2400" dirty="0"/>
                  <a:t>. Достаточно ли далеко влево, чтобы отклонить нулевую гипотезу?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≤200</m:t>
                          </m:r>
                        </m:e>
                      </m:d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ru-RU" sz="24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,…, </m:t>
                                  </m:r>
                                  <m:sSub>
                                    <m:sSub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≤200</m:t>
                          </m:r>
                        </m:e>
                      </m:d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200</m:t>
                          </m:r>
                        </m:num>
                        <m:den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350</m:t>
                          </m:r>
                        </m:den>
                      </m:f>
                      <m:r>
                        <a:rPr lang="ru-RU" sz="240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199</m:t>
                          </m:r>
                        </m:num>
                        <m:den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349</m:t>
                          </m:r>
                        </m:den>
                      </m:f>
                      <m:r>
                        <a:rPr lang="ru-RU" sz="2400">
                          <a:latin typeface="Cambria Math" panose="02040503050406030204" pitchFamily="18" charset="0"/>
                        </a:rPr>
                        <m:t>⋅…⋅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196</m:t>
                          </m:r>
                        </m:num>
                        <m:den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346</m:t>
                          </m:r>
                        </m:den>
                      </m:f>
                      <m:r>
                        <a:rPr lang="ru-RU" sz="2400">
                          <a:latin typeface="Cambria Math" panose="02040503050406030204" pitchFamily="18" charset="0"/>
                        </a:rPr>
                        <m:t>=0.0596.</m:t>
                      </m:r>
                    </m:oMath>
                  </m:oMathPara>
                </a14:m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76837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Танки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Это означает, что если общее количество произведенных танков равно 350, то в 5.96% всех случаев мы наблюдали бы значение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ru-RU" sz="2400" dirty="0"/>
                  <a:t>, которое, по крайней мере, столь же экстремально, как значение 200. 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Достаточно ли мало 0.0596, чтобы отвергнуть нулевую гипотезу?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62601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Ошибки типа I и типа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Таблица 2">
                <a:extLst>
                  <a:ext uri="{FF2B5EF4-FFF2-40B4-BE49-F238E27FC236}">
                    <a16:creationId xmlns:a16="http://schemas.microsoft.com/office/drawing/2014/main" id="{01F156FC-5455-49D7-8C9B-AC3E8C8438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7997936"/>
                  </p:ext>
                </p:extLst>
              </p:nvPr>
            </p:nvGraphicFramePr>
            <p:xfrm>
              <a:off x="983063" y="2205040"/>
              <a:ext cx="10226272" cy="3666001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556568">
                      <a:extLst>
                        <a:ext uri="{9D8B030D-6E8A-4147-A177-3AD203B41FA5}">
                          <a16:colId xmlns:a16="http://schemas.microsoft.com/office/drawing/2014/main" val="3563930585"/>
                        </a:ext>
                      </a:extLst>
                    </a:gridCol>
                    <a:gridCol w="2556568">
                      <a:extLst>
                        <a:ext uri="{9D8B030D-6E8A-4147-A177-3AD203B41FA5}">
                          <a16:colId xmlns:a16="http://schemas.microsoft.com/office/drawing/2014/main" val="681589267"/>
                        </a:ext>
                      </a:extLst>
                    </a:gridCol>
                    <a:gridCol w="2556568">
                      <a:extLst>
                        <a:ext uri="{9D8B030D-6E8A-4147-A177-3AD203B41FA5}">
                          <a16:colId xmlns:a16="http://schemas.microsoft.com/office/drawing/2014/main" val="849443735"/>
                        </a:ext>
                      </a:extLst>
                    </a:gridCol>
                    <a:gridCol w="2556568">
                      <a:extLst>
                        <a:ext uri="{9D8B030D-6E8A-4147-A177-3AD203B41FA5}">
                          <a16:colId xmlns:a16="http://schemas.microsoft.com/office/drawing/2014/main" val="3628521585"/>
                        </a:ext>
                      </a:extLst>
                    </a:gridCol>
                  </a:tblGrid>
                  <a:tr h="461285">
                    <a:tc gridSpan="2">
                      <a:txBody>
                        <a:bodyPr/>
                        <a:lstStyle/>
                        <a:p>
                          <a:pPr algn="just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2400" kern="1200" dirty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j-ea"/>
                              <a:cs typeface="Segoe UI" panose="020B0502040204020203" pitchFamily="34" charset="0"/>
                            </a:rPr>
                            <a:t> </a:t>
                          </a:r>
                        </a:p>
                        <a:p>
                          <a:pPr algn="just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2400" kern="1200" dirty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j-ea"/>
                              <a:cs typeface="Segoe UI" panose="020B0502040204020203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T w="12700" cmpd="sng">
                          <a:noFill/>
                        </a:lnT>
                        <a:lnB w="12700" cmpd="sng"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ru-RU" sz="2400" kern="1200" dirty="0">
                            <a:solidFill>
                              <a:schemeClr val="tx1"/>
                            </a:solidFill>
                            <a:latin typeface="Segoe UI" panose="020B0502040204020203" pitchFamily="34" charset="0"/>
                            <a:ea typeface="+mj-ea"/>
                            <a:cs typeface="Segoe UI" panose="020B0502040204020203" pitchFamily="34" charset="0"/>
                          </a:endParaRPr>
                        </a:p>
                      </a:txBody>
                      <a:tcPr marL="68580" marR="68580" marT="0" marB="0">
                        <a:lnT w="12700" cmpd="sng">
                          <a:noFill/>
                        </a:lnT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ru-RU" sz="2400" kern="1200" dirty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j-ea"/>
                              <a:cs typeface="Segoe UI" panose="020B0502040204020203" pitchFamily="34" charset="0"/>
                            </a:rPr>
                            <a:t>Истинное состояние</a:t>
                          </a: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86746877"/>
                      </a:ext>
                    </a:extLst>
                  </a:tr>
                  <a:tr h="461285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2400" kern="1200" dirty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j-ea"/>
                              <a:cs typeface="Segoe UI" panose="020B0502040204020203" pitchFamily="34" charset="0"/>
                            </a:rPr>
                            <a:t> 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2400" kern="1200" dirty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j-ea"/>
                              <a:cs typeface="Segoe UI" panose="020B0502040204020203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T w="12700" cmpd="sng">
                          <a:noFill/>
                        </a:lnT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ru-RU" sz="2400" kern="1200" dirty="0">
                            <a:solidFill>
                              <a:schemeClr val="tx1"/>
                            </a:solidFill>
                            <a:latin typeface="Segoe UI" panose="020B0502040204020203" pitchFamily="34" charset="0"/>
                            <a:ea typeface="+mj-ea"/>
                            <a:cs typeface="Segoe UI" panose="020B0502040204020203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24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ru-RU" sz="240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ru-RU" sz="2400" kern="120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j-ea"/>
                              <a:cs typeface="Segoe UI" panose="020B0502040204020203" pitchFamily="34" charset="0"/>
                            </a:rPr>
                            <a:t> истинно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24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ru-RU" sz="240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ru-RU" sz="2400" kern="120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j-ea"/>
                              <a:cs typeface="Segoe UI" panose="020B0502040204020203" pitchFamily="34" charset="0"/>
                            </a:rPr>
                            <a:t> истинно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67585798"/>
                      </a:ext>
                    </a:extLst>
                  </a:tr>
                  <a:tr h="959167"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ru-RU" sz="2400" kern="120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j-ea"/>
                              <a:cs typeface="Segoe UI" panose="020B0502040204020203" pitchFamily="34" charset="0"/>
                            </a:rPr>
                            <a:t>Наше решение на основе полученных данных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ru-RU" sz="2400" kern="120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j-ea"/>
                              <a:cs typeface="Segoe UI" panose="020B0502040204020203" pitchFamily="34" charset="0"/>
                            </a:rPr>
                            <a:t>Отклонить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24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ru-RU" sz="240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ru-RU" sz="2400" kern="1200">
                            <a:solidFill>
                              <a:schemeClr val="tx1"/>
                            </a:solidFill>
                            <a:latin typeface="Segoe UI" panose="020B0502040204020203" pitchFamily="34" charset="0"/>
                            <a:ea typeface="+mj-ea"/>
                            <a:cs typeface="Segoe U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ru-RU" sz="2400" kern="120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j-ea"/>
                              <a:cs typeface="Segoe UI" panose="020B0502040204020203" pitchFamily="34" charset="0"/>
                            </a:rPr>
                            <a:t>Ошибка </a:t>
                          </a:r>
                          <a:r>
                            <a:rPr lang="en-US" sz="2400" kern="120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j-ea"/>
                              <a:cs typeface="Segoe UI" panose="020B0502040204020203" pitchFamily="34" charset="0"/>
                            </a:rPr>
                            <a:t>I </a:t>
                          </a:r>
                          <a:r>
                            <a:rPr lang="ru-RU" sz="2400" kern="120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j-ea"/>
                              <a:cs typeface="Segoe UI" panose="020B0502040204020203" pitchFamily="34" charset="0"/>
                            </a:rPr>
                            <a:t>типа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2400" kern="120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j-ea"/>
                              <a:cs typeface="Segoe UI" panose="020B0502040204020203" pitchFamily="34" charset="0"/>
                            </a:rPr>
                            <a:t>Правильное решение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583145752"/>
                      </a:ext>
                    </a:extLst>
                  </a:tr>
                  <a:tr h="995762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ru-RU" sz="2400" kern="120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j-ea"/>
                              <a:cs typeface="Segoe UI" panose="020B0502040204020203" pitchFamily="34" charset="0"/>
                            </a:rPr>
                            <a:t>Не отклонять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24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ru-RU" sz="240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ru-RU" sz="2400" kern="1200">
                            <a:solidFill>
                              <a:schemeClr val="tx1"/>
                            </a:solidFill>
                            <a:latin typeface="Segoe UI" panose="020B0502040204020203" pitchFamily="34" charset="0"/>
                            <a:ea typeface="+mj-ea"/>
                            <a:cs typeface="Segoe U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2400" kern="120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j-ea"/>
                              <a:cs typeface="Segoe UI" panose="020B0502040204020203" pitchFamily="34" charset="0"/>
                            </a:rPr>
                            <a:t>Правильное решение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ru-RU" sz="2400" kern="1200" dirty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j-ea"/>
                              <a:cs typeface="Segoe UI" panose="020B0502040204020203" pitchFamily="34" charset="0"/>
                            </a:rPr>
                            <a:t>Ошибка </a:t>
                          </a:r>
                          <a:r>
                            <a:rPr lang="en-US" sz="2400" kern="1200" dirty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j-ea"/>
                              <a:cs typeface="Segoe UI" panose="020B0502040204020203" pitchFamily="34" charset="0"/>
                            </a:rPr>
                            <a:t>II </a:t>
                          </a:r>
                          <a:r>
                            <a:rPr lang="ru-RU" sz="2400" kern="1200" dirty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j-ea"/>
                              <a:cs typeface="Segoe UI" panose="020B0502040204020203" pitchFamily="34" charset="0"/>
                            </a:rPr>
                            <a:t>типа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8898823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Таблица 2">
                <a:extLst>
                  <a:ext uri="{FF2B5EF4-FFF2-40B4-BE49-F238E27FC236}">
                    <a16:creationId xmlns:a16="http://schemas.microsoft.com/office/drawing/2014/main" id="{01F156FC-5455-49D7-8C9B-AC3E8C8438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7997936"/>
                  </p:ext>
                </p:extLst>
              </p:nvPr>
            </p:nvGraphicFramePr>
            <p:xfrm>
              <a:off x="983063" y="2205040"/>
              <a:ext cx="10226272" cy="3666001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556568">
                      <a:extLst>
                        <a:ext uri="{9D8B030D-6E8A-4147-A177-3AD203B41FA5}">
                          <a16:colId xmlns:a16="http://schemas.microsoft.com/office/drawing/2014/main" val="3563930585"/>
                        </a:ext>
                      </a:extLst>
                    </a:gridCol>
                    <a:gridCol w="2556568">
                      <a:extLst>
                        <a:ext uri="{9D8B030D-6E8A-4147-A177-3AD203B41FA5}">
                          <a16:colId xmlns:a16="http://schemas.microsoft.com/office/drawing/2014/main" val="681589267"/>
                        </a:ext>
                      </a:extLst>
                    </a:gridCol>
                    <a:gridCol w="2556568">
                      <a:extLst>
                        <a:ext uri="{9D8B030D-6E8A-4147-A177-3AD203B41FA5}">
                          <a16:colId xmlns:a16="http://schemas.microsoft.com/office/drawing/2014/main" val="849443735"/>
                        </a:ext>
                      </a:extLst>
                    </a:gridCol>
                    <a:gridCol w="2556568">
                      <a:extLst>
                        <a:ext uri="{9D8B030D-6E8A-4147-A177-3AD203B41FA5}">
                          <a16:colId xmlns:a16="http://schemas.microsoft.com/office/drawing/2014/main" val="3628521585"/>
                        </a:ext>
                      </a:extLst>
                    </a:gridCol>
                  </a:tblGrid>
                  <a:tr h="855536">
                    <a:tc gridSpan="2">
                      <a:txBody>
                        <a:bodyPr/>
                        <a:lstStyle/>
                        <a:p>
                          <a:pPr algn="just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2400" kern="1200" dirty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j-ea"/>
                              <a:cs typeface="Segoe UI" panose="020B0502040204020203" pitchFamily="34" charset="0"/>
                            </a:rPr>
                            <a:t> </a:t>
                          </a:r>
                        </a:p>
                        <a:p>
                          <a:pPr algn="just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2400" kern="1200" dirty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j-ea"/>
                              <a:cs typeface="Segoe UI" panose="020B0502040204020203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T w="12700" cmpd="sng">
                          <a:noFill/>
                        </a:lnT>
                        <a:lnB w="12700" cmpd="sng"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ru-RU" sz="2400" kern="1200" dirty="0">
                            <a:solidFill>
                              <a:schemeClr val="tx1"/>
                            </a:solidFill>
                            <a:latin typeface="Segoe UI" panose="020B0502040204020203" pitchFamily="34" charset="0"/>
                            <a:ea typeface="+mj-ea"/>
                            <a:cs typeface="Segoe UI" panose="020B0502040204020203" pitchFamily="34" charset="0"/>
                          </a:endParaRPr>
                        </a:p>
                      </a:txBody>
                      <a:tcPr marL="68580" marR="68580" marT="0" marB="0">
                        <a:lnT w="12700" cmpd="sng">
                          <a:noFill/>
                        </a:lnT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ru-RU" sz="2400" kern="1200" dirty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j-ea"/>
                              <a:cs typeface="Segoe UI" panose="020B0502040204020203" pitchFamily="34" charset="0"/>
                            </a:rPr>
                            <a:t>Истинное состояние</a:t>
                          </a: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86746877"/>
                      </a:ext>
                    </a:extLst>
                  </a:tr>
                  <a:tr h="855536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2400" kern="1200" dirty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j-ea"/>
                              <a:cs typeface="Segoe UI" panose="020B0502040204020203" pitchFamily="34" charset="0"/>
                            </a:rPr>
                            <a:t> 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2400" kern="1200" dirty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j-ea"/>
                              <a:cs typeface="Segoe UI" panose="020B0502040204020203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T w="12700" cmpd="sng">
                          <a:noFill/>
                        </a:lnT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ru-RU" sz="2400" kern="1200" dirty="0">
                            <a:solidFill>
                              <a:schemeClr val="tx1"/>
                            </a:solidFill>
                            <a:latin typeface="Segoe UI" panose="020B0502040204020203" pitchFamily="34" charset="0"/>
                            <a:ea typeface="+mj-ea"/>
                            <a:cs typeface="Segoe UI" panose="020B0502040204020203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0000" t="-101429" r="-100238" b="-23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00716" t="-101429" r="-477" b="-23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7585798"/>
                      </a:ext>
                    </a:extLst>
                  </a:tr>
                  <a:tr h="959167"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ru-RU" sz="2400" kern="120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j-ea"/>
                              <a:cs typeface="Segoe UI" panose="020B0502040204020203" pitchFamily="34" charset="0"/>
                            </a:rPr>
                            <a:t>Наше решение на основе полученных данных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00477" t="-178481" r="-200716" b="-1101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ru-RU" sz="2400" kern="120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j-ea"/>
                              <a:cs typeface="Segoe UI" panose="020B0502040204020203" pitchFamily="34" charset="0"/>
                            </a:rPr>
                            <a:t>Ошибка </a:t>
                          </a:r>
                          <a:r>
                            <a:rPr lang="en-US" sz="2400" kern="120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j-ea"/>
                              <a:cs typeface="Segoe UI" panose="020B0502040204020203" pitchFamily="34" charset="0"/>
                            </a:rPr>
                            <a:t>I </a:t>
                          </a:r>
                          <a:r>
                            <a:rPr lang="ru-RU" sz="2400" kern="120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j-ea"/>
                              <a:cs typeface="Segoe UI" panose="020B0502040204020203" pitchFamily="34" charset="0"/>
                            </a:rPr>
                            <a:t>типа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2400" kern="120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j-ea"/>
                              <a:cs typeface="Segoe UI" panose="020B0502040204020203" pitchFamily="34" charset="0"/>
                            </a:rPr>
                            <a:t>Правильное решение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583145752"/>
                      </a:ext>
                    </a:extLst>
                  </a:tr>
                  <a:tr h="995762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00477" t="-268293" r="-200716" b="-6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2400" kern="120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j-ea"/>
                              <a:cs typeface="Segoe UI" panose="020B0502040204020203" pitchFamily="34" charset="0"/>
                            </a:rPr>
                            <a:t>Правильное решение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ru-RU" sz="2400" kern="1200" dirty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j-ea"/>
                              <a:cs typeface="Segoe UI" panose="020B0502040204020203" pitchFamily="34" charset="0"/>
                            </a:rPr>
                            <a:t>Ошибка </a:t>
                          </a:r>
                          <a:r>
                            <a:rPr lang="en-US" sz="2400" kern="1200" dirty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j-ea"/>
                              <a:cs typeface="Segoe UI" panose="020B0502040204020203" pitchFamily="34" charset="0"/>
                            </a:rPr>
                            <a:t>II </a:t>
                          </a:r>
                          <a:r>
                            <a:rPr lang="ru-RU" sz="2400" kern="1200" dirty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j-ea"/>
                              <a:cs typeface="Segoe UI" panose="020B0502040204020203" pitchFamily="34" charset="0"/>
                            </a:rPr>
                            <a:t>типа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88988239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70929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Ошибки типа I и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Ошибка типа I возникает, если мы ложно отвергаем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Ошибка типа II возникает, если мы ложно не отклоняем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В терминологии суда ошибка I типа соответствует вынесению обвинительного приговора невиновному подсудимому,</a:t>
                </a:r>
                <a:br>
                  <a:rPr lang="ru-RU" sz="2400" dirty="0"/>
                </a:br>
                <a:r>
                  <a:rPr lang="ru-RU" sz="2400" dirty="0"/>
                  <a:t>в то время как ошибка II типа соответствует оправданию преступника.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06802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Ошибки типа I и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Если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: 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𝑁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=350</m:t>
                    </m:r>
                  </m:oMath>
                </a14:m>
                <a:r>
                  <a:rPr lang="ru-RU" sz="2400" dirty="0"/>
                  <a:t> истинно, то решение отклонить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 является ошибкой типа I.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Мы никогда не узнаем, допускаем ли мы ошибку типа I.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3" r="-160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89590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Ошибки типа I и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Однако мы можем кое-что сказать о вероятности совершения ошибки типа I. Предположим, что «решающим правилом» будет «отклонить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: 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𝑁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=350</m:t>
                    </m:r>
                  </m:oMath>
                </a14:m>
                <a:r>
                  <a:rPr lang="ru-RU" sz="2400" dirty="0"/>
                  <a:t> всякий раз, когда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≤200</m:t>
                    </m:r>
                  </m:oMath>
                </a14:m>
                <a:r>
                  <a:rPr lang="ru-RU" sz="2400" dirty="0"/>
                  <a:t>».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С этим «решающим правилом» вероятность совершения ошибки</a:t>
                </a:r>
                <a:br>
                  <a:rPr lang="ru-RU" sz="2400" dirty="0"/>
                </a:br>
                <a:r>
                  <a:rPr lang="ru-RU" sz="2400" dirty="0"/>
                  <a:t>типа I равна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𝑃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≤200)=0.0596</m:t>
                    </m:r>
                  </m:oMath>
                </a14:m>
                <a:r>
                  <a:rPr lang="ru-RU" sz="2400" dirty="0"/>
                  <a:t>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3" r="-13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48698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Ошибки типа I и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Если мы готовы пойти на риск совершения ошибки типа I</a:t>
                </a:r>
                <a:br>
                  <a:rPr lang="ru-RU" sz="2400" dirty="0"/>
                </a:br>
                <a:r>
                  <a:rPr lang="ru-RU" sz="2400" dirty="0"/>
                  <a:t>с вероятностью 0.0596, мы могли бы принять это правило принятия решений.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Это также означало бы, что на основе наблюдаемого максимума</a:t>
                </a:r>
                <a:br>
                  <a:rPr lang="ru-RU" sz="2400" dirty="0"/>
                </a:br>
                <a:r>
                  <a:rPr lang="ru-RU" sz="2400" dirty="0"/>
                  <a:t>в 200 мы бы отвергли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 в пользу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: 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𝑁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&lt;350</m:t>
                    </m:r>
                  </m:oMath>
                </a14:m>
                <a:r>
                  <a:rPr lang="ru-RU" sz="2400" dirty="0"/>
                  <a:t>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61082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Вероятность совершить ошибку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Вопрос: на какой риск человек готов пойти, чтобы ложно отклонить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, или, выражаясь терминологией суда: насколько малым должно быть значение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sz="2400" dirty="0"/>
                  <a:t>, чтобы прийти к выводу, который «не вызывает разумных сомнений»?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3" r="-8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40066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Вероятность совершить ошибку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3172" y="2209538"/>
            <a:ext cx="10226675" cy="3738219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ru-RU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/>
              <a:t>Во многих ситуациях, как правило, 0.05 используется в качестве уровня, на котором начинаются обоснованные сомнения.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/>
              <a:t>То, что происходит с вероятностью меньше или равной 0.05, в таком случае рассматривается как слишком исключительное.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645752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Вероятность совершить ошибку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Однако не существует общего правила, определяющего, насколько малым должно быть значение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sz="2400" dirty="0"/>
                  <a:t>, чтобы отклонить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Невозможно утверждать, что эта вероятность должна быть ниже 0.10, или 0.18, или 0.009 – или чего-либо еще.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3" r="-23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6576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Вероятность совершить ошибку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Возможное решение состоит в том, чтобы сообщать исключительно значение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sz="2400" dirty="0"/>
                  <a:t>, соответствующее наблюдаемому значению тестовой статистики.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Это объективно и не имеет произвольности заранее выбранного уровня, такого как 0.05.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18016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Вероятность совершить ошибку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Исследователь, сообщающий значение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sz="2400" dirty="0"/>
                  <a:t>, передает максимальный объем информации, содержащейся в наборе данных, и позволяет всем лицам, принимающим решения, выбрать свой собственный уровень и принять собственное решение относительно нулевой гипотезы. Это особенно важно, когда нет уважительной причины для предварительного выбора определенного значения для такого уровня.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81227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3"/>
            <a:ext cx="10221537" cy="92633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Проверка гипотез. Основы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2187" y="1998365"/>
            <a:ext cx="10226675" cy="3456037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ru-RU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ru-RU" sz="2400" dirty="0"/>
              <a:t>Нулевая гипотеза и тестовая статистика.</a:t>
            </a:r>
          </a:p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ru-RU" sz="2400" dirty="0"/>
              <a:t>Альтернативная гипотеза.</a:t>
            </a:r>
          </a:p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ru-RU" sz="2400" dirty="0"/>
              <a:t>Ошибки типа I и </a:t>
            </a:r>
            <a:r>
              <a:rPr lang="ru-RU" sz="2400"/>
              <a:t>типа II.</a:t>
            </a:r>
          </a:p>
          <a:p>
            <a:pPr>
              <a:lnSpc>
                <a:spcPct val="80000"/>
              </a:lnSpc>
              <a:spcAft>
                <a:spcPts val="800"/>
              </a:spcAft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331655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B02A613E-02D3-4191-ACCC-97EAB3767AB7}"/>
  <p:tag name="ISPRING_RESOURCE_FOLDER" val="C:\Users\Alexander.Kozlov.SCHOOL\Google Drive\ИПС\Учебный процесс\Подготовительные курсы\Лекции\Лекция 1. Натуральные числа\Базовый тип данных. Натуральные числа\"/>
  <p:tag name="ISPRING_PRESENTATION_PATH" val="C:\Users\Alexander.Kozlov.SCHOOL\Google Drive\ИПС\Учебный процесс\Подготовительные курсы\Лекции\Лекция 1. Натуральные числа\Базовый тип данных. Натуральные числа.pptx"/>
  <p:tag name="ISPRING_PROJECT_FOLDER_UPDATED" val="1"/>
  <p:tag name="ISPRING_SCREEN_RECS_UPDATED" val="C:\Users\Alexander.Kozlov.SCHOOL\Google Drive\ИПС\Учебный процесс\Подготовительные курсы\Лекции\Лекция 1. Натуральные числа\Базовый тип данных. Натуральные числа\"/>
</p:tagLst>
</file>

<file path=ppt/theme/theme1.xml><?xml version="1.0" encoding="utf-8"?>
<a:theme xmlns:a="http://schemas.openxmlformats.org/drawingml/2006/main" name="HDOfficeLightV0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онкие сплошные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DOfficeLightV0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HDOfficeLightV0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HDOfficeLightV0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TM02900722[[fn=Совет директоров]]</Template>
  <TotalTime>18985</TotalTime>
  <Words>1690</Words>
  <Application>Microsoft Office PowerPoint</Application>
  <PresentationFormat>Широкоэкранный</PresentationFormat>
  <Paragraphs>184</Paragraphs>
  <Slides>40</Slides>
  <Notes>39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40</vt:i4>
      </vt:variant>
    </vt:vector>
  </HeadingPairs>
  <TitlesOfParts>
    <vt:vector size="52" baseType="lpstr">
      <vt:lpstr>Calibri</vt:lpstr>
      <vt:lpstr>Calibri Light</vt:lpstr>
      <vt:lpstr>Cambria Math</vt:lpstr>
      <vt:lpstr>Segoe UI</vt:lpstr>
      <vt:lpstr>Segoe UI Black</vt:lpstr>
      <vt:lpstr>Segoe UI Semilight</vt:lpstr>
      <vt:lpstr>Times New Roman</vt:lpstr>
      <vt:lpstr>Wingdings 2</vt:lpstr>
      <vt:lpstr>HDOfficeLightV0</vt:lpstr>
      <vt:lpstr>1_HDOfficeLightV0</vt:lpstr>
      <vt:lpstr>2_HDOfficeLightV0</vt:lpstr>
      <vt:lpstr>3_HDOfficeLightV0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Krokoz™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Базовый тип данных. Натуральные числа</dc:title>
  <dc:creator>Alexander</dc:creator>
  <cp:lastModifiedBy>Alexander Kozlov</cp:lastModifiedBy>
  <cp:revision>686</cp:revision>
  <dcterms:created xsi:type="dcterms:W3CDTF">2016-01-11T07:19:05Z</dcterms:created>
  <dcterms:modified xsi:type="dcterms:W3CDTF">2024-04-22T09:22:30Z</dcterms:modified>
</cp:coreProperties>
</file>